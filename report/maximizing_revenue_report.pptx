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57483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5" autoAdjust="0"/>
  </p:normalViewPr>
  <p:slideViewPr>
    <p:cSldViewPr snapToGrid="0" snapToObjects="1">
      <p:cViewPr varScale="1">
        <p:scale>
          <a:sx n="108" d="100"/>
          <a:sy n="108" d="100"/>
        </p:scale>
        <p:origin x="678"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Payment Type</c:v>
                </c:pt>
              </c:strCache>
            </c:strRef>
          </c:tx>
          <c:dPt>
            <c:idx val="0"/>
            <c:bubble3D val="0"/>
            <c:spPr>
              <a:solidFill>
                <a:srgbClr val="FF4826"/>
              </a:solidFill>
            </c:spPr>
            <c:extLst>
              <c:ext xmlns:c16="http://schemas.microsoft.com/office/drawing/2014/chart" uri="{C3380CC4-5D6E-409C-BE32-E72D297353CC}">
                <c16:uniqueId val="{00000001-01D9-4C9E-9FEC-1199EDF19DB9}"/>
              </c:ext>
            </c:extLst>
          </c:dPt>
          <c:dPt>
            <c:idx val="1"/>
            <c:bubble3D val="0"/>
            <c:spPr>
              <a:solidFill>
                <a:srgbClr val="F9A595"/>
              </a:solidFill>
            </c:spPr>
            <c:extLst>
              <c:ext xmlns:c16="http://schemas.microsoft.com/office/drawing/2014/chart" uri="{C3380CC4-5D6E-409C-BE32-E72D297353CC}">
                <c16:uniqueId val="{00000003-01D9-4C9E-9FEC-1199EDF19DB9}"/>
              </c:ext>
            </c:extLst>
          </c:dPt>
          <c:dLbls>
            <c:dLbl>
              <c:idx val="0"/>
              <c:layout>
                <c:manualLayout>
                  <c:x val="-0.24479842319275966"/>
                  <c:y val="-0.13125795970156851"/>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1D9-4C9E-9FEC-1199EDF19DB9}"/>
                </c:ext>
              </c:extLst>
            </c:dLbl>
            <c:dLbl>
              <c:idx val="1"/>
              <c:layout>
                <c:manualLayout>
                  <c:x val="0.21010271342087894"/>
                  <c:y val="0.13818882884547634"/>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1D9-4C9E-9FEC-1199EDF19DB9}"/>
                </c:ext>
              </c:extLst>
            </c:dLbl>
            <c:spPr>
              <a:noFill/>
              <a:ln>
                <a:noFill/>
              </a:ln>
              <a:effectLst/>
            </c:spPr>
            <c:txPr>
              <a:bodyPr/>
              <a:lstStyle/>
              <a:p>
                <a:pPr>
                  <a:defRPr sz="1600" b="1">
                    <a:latin typeface="Arial"/>
                  </a:defRPr>
                </a:pPr>
                <a:endParaRPr lang="en-US"/>
              </a:p>
            </c:txPr>
            <c:dLblPos val="bestFit"/>
            <c:showLegendKey val="0"/>
            <c:showVal val="0"/>
            <c:showCatName val="1"/>
            <c:showSerName val="0"/>
            <c:showPercent val="1"/>
            <c:showBubbleSize val="0"/>
            <c:showLeaderLines val="1"/>
            <c:extLst>
              <c:ext xmlns:c15="http://schemas.microsoft.com/office/drawing/2012/chart" uri="{CE6537A1-D6FC-4f65-9D91-7224C49458BB}"/>
            </c:extLst>
          </c:dLbls>
          <c:cat>
            <c:strRef>
              <c:f>Sheet1!$A$2:$A$3</c:f>
              <c:strCache>
                <c:ptCount val="2"/>
                <c:pt idx="0">
                  <c:v>Card</c:v>
                </c:pt>
                <c:pt idx="1">
                  <c:v>Cash</c:v>
                </c:pt>
              </c:strCache>
            </c:strRef>
          </c:cat>
          <c:val>
            <c:numRef>
              <c:f>Sheet1!$B$2:$B$3</c:f>
              <c:numCache>
                <c:formatCode>General</c:formatCode>
                <c:ptCount val="2"/>
                <c:pt idx="0">
                  <c:v>67.5</c:v>
                </c:pt>
                <c:pt idx="1">
                  <c:v>32.5</c:v>
                </c:pt>
              </c:numCache>
            </c:numRef>
          </c:val>
          <c:extLst>
            <c:ext xmlns:c16="http://schemas.microsoft.com/office/drawing/2014/chart" uri="{C3380CC4-5D6E-409C-BE32-E72D297353CC}">
              <c16:uniqueId val="{00000004-01D9-4C9E-9FEC-1199EDF19DB9}"/>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46E8DB-2458-42CD-AC2D-F34460154818}" type="datetimeFigureOut">
              <a:rPr lang="en-IN" smtClean="0"/>
              <a:t>24-09-2026</a:t>
            </a:fld>
            <a:endParaRPr lang="en-IN"/>
          </a:p>
        </p:txBody>
      </p:sp>
      <p:sp>
        <p:nvSpPr>
          <p:cNvPr id="4" name="Slide Image Placeholder 3"/>
          <p:cNvSpPr>
            <a:spLocks noGrp="1" noRot="1" noChangeAspect="1"/>
          </p:cNvSpPr>
          <p:nvPr>
            <p:ph type="sldImg" idx="2"/>
          </p:nvPr>
        </p:nvSpPr>
        <p:spPr>
          <a:xfrm>
            <a:off x="157163" y="1143000"/>
            <a:ext cx="65436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43B494-D64A-4461-9EDC-CAFE965162B1}" type="slidenum">
              <a:rPr lang="en-IN" smtClean="0"/>
              <a:t>‹#›</a:t>
            </a:fld>
            <a:endParaRPr lang="en-IN"/>
          </a:p>
        </p:txBody>
      </p:sp>
    </p:spTree>
    <p:extLst>
      <p:ext uri="{BB962C8B-B14F-4D97-AF65-F5344CB8AC3E}">
        <p14:creationId xmlns:p14="http://schemas.microsoft.com/office/powerpoint/2010/main" val="3941075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8" name="Rectangle 7"/>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4364610"/>
            <a:ext cx="12192000" cy="1383047"/>
          </a:xfrm>
          <a:prstGeom prst="rect">
            <a:avLst/>
          </a:prstGeom>
          <a:solidFill>
            <a:srgbClr val="FB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37744" y="678378"/>
            <a:ext cx="4207883" cy="769441"/>
          </a:xfrm>
          <a:prstGeom prst="rect">
            <a:avLst/>
          </a:prstGeom>
          <a:noFill/>
        </p:spPr>
        <p:txBody>
          <a:bodyPr wrap="none" lIns="0" tIns="0" rIns="0" bIns="0" anchor="t">
            <a:spAutoFit/>
          </a:bodyPr>
          <a:lstStyle/>
          <a:p>
            <a:pPr indent="358775" algn="l"/>
            <a:r>
              <a:rPr sz="5000" b="1" dirty="0">
                <a:solidFill>
                  <a:srgbClr val="000000"/>
                </a:solidFill>
                <a:latin typeface="Arial"/>
              </a:rPr>
              <a:t>MAXIMIZING</a:t>
            </a:r>
          </a:p>
        </p:txBody>
      </p:sp>
      <p:sp>
        <p:nvSpPr>
          <p:cNvPr id="4" name="TextBox 3"/>
          <p:cNvSpPr txBox="1"/>
          <p:nvPr/>
        </p:nvSpPr>
        <p:spPr>
          <a:xfrm>
            <a:off x="237744" y="1901952"/>
            <a:ext cx="4994957" cy="769441"/>
          </a:xfrm>
          <a:prstGeom prst="rect">
            <a:avLst/>
          </a:prstGeom>
          <a:noFill/>
        </p:spPr>
        <p:txBody>
          <a:bodyPr wrap="none" lIns="0" tIns="0" rIns="0" bIns="0" anchor="t">
            <a:spAutoFit/>
          </a:bodyPr>
          <a:lstStyle/>
          <a:p>
            <a:pPr indent="358775" algn="l"/>
            <a:r>
              <a:rPr sz="5000" b="1" dirty="0">
                <a:solidFill>
                  <a:srgbClr val="000000"/>
                </a:solidFill>
                <a:latin typeface="Arial"/>
              </a:rPr>
              <a:t>REVENUE FOR</a:t>
            </a:r>
          </a:p>
        </p:txBody>
      </p:sp>
      <p:sp>
        <p:nvSpPr>
          <p:cNvPr id="5" name="TextBox 4"/>
          <p:cNvSpPr txBox="1"/>
          <p:nvPr/>
        </p:nvSpPr>
        <p:spPr>
          <a:xfrm>
            <a:off x="237744" y="3098533"/>
            <a:ext cx="3214021" cy="769441"/>
          </a:xfrm>
          <a:prstGeom prst="rect">
            <a:avLst/>
          </a:prstGeom>
          <a:noFill/>
        </p:spPr>
        <p:txBody>
          <a:bodyPr wrap="none" lIns="0" tIns="0" rIns="0" bIns="0" anchor="t">
            <a:spAutoFit/>
          </a:bodyPr>
          <a:lstStyle/>
          <a:p>
            <a:pPr indent="358775" algn="l"/>
            <a:r>
              <a:rPr sz="5000" b="1" dirty="0">
                <a:solidFill>
                  <a:srgbClr val="000000"/>
                </a:solidFill>
                <a:latin typeface="Arial"/>
              </a:rPr>
              <a:t>DRIVERS</a:t>
            </a:r>
          </a:p>
        </p:txBody>
      </p:sp>
      <p:sp>
        <p:nvSpPr>
          <p:cNvPr id="7" name="Rounded Rectangle 6"/>
          <p:cNvSpPr/>
          <p:nvPr/>
        </p:nvSpPr>
        <p:spPr>
          <a:xfrm>
            <a:off x="537328" y="4694548"/>
            <a:ext cx="4302298" cy="738214"/>
          </a:xfrm>
          <a:prstGeom prst="roundRect">
            <a:avLst/>
          </a:prstGeom>
          <a:solidFill>
            <a:srgbClr val="F55634"/>
          </a:solidFill>
          <a:ln>
            <a:no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2600" dirty="0">
                <a:solidFill>
                  <a:srgbClr val="FFFFFF"/>
                </a:solidFill>
                <a:latin typeface="Arial"/>
              </a:rPr>
              <a:t>Through Payment Type</a:t>
            </a:r>
          </a:p>
        </p:txBody>
      </p:sp>
      <p:sp>
        <p:nvSpPr>
          <p:cNvPr id="9" name="Rectangle 8"/>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1" name="TextBox 10"/>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1</a:t>
            </a:r>
          </a:p>
        </p:txBody>
      </p:sp>
      <p:pic>
        <p:nvPicPr>
          <p:cNvPr id="13" name="Picture 12" descr="taxi_photo_clean.png">
            <a:extLst>
              <a:ext uri="{FF2B5EF4-FFF2-40B4-BE49-F238E27FC236}">
                <a16:creationId xmlns:a16="http://schemas.microsoft.com/office/drawing/2014/main" id="{BA3E43AD-035A-C640-FBB7-6A543C275414}"/>
              </a:ext>
            </a:extLst>
          </p:cNvPr>
          <p:cNvPicPr>
            <a:picLocks noChangeAspect="1"/>
          </p:cNvPicPr>
          <p:nvPr/>
        </p:nvPicPr>
        <p:blipFill>
          <a:blip r:embed="rId2"/>
          <a:stretch>
            <a:fillRect/>
          </a:stretch>
        </p:blipFill>
        <p:spPr>
          <a:xfrm>
            <a:off x="7069914" y="768793"/>
            <a:ext cx="4019836" cy="4019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467203" y="556354"/>
            <a:ext cx="2492670" cy="816249"/>
          </a:xfrm>
          <a:prstGeom prst="rect">
            <a:avLst/>
          </a:prstGeom>
          <a:noFill/>
        </p:spPr>
        <p:txBody>
          <a:bodyPr wrap="none" lIns="0" tIns="0" rIns="0" bIns="0" anchor="ctr">
            <a:spAutoFit/>
          </a:bodyPr>
          <a:lstStyle/>
          <a:p>
            <a:pPr algn="l"/>
            <a:r>
              <a:rPr sz="5304" b="1" dirty="0">
                <a:solidFill>
                  <a:srgbClr val="000000"/>
                </a:solidFill>
                <a:latin typeface="Arial"/>
              </a:rPr>
              <a:t>Agenda</a:t>
            </a:r>
          </a:p>
        </p:txBody>
      </p:sp>
      <p:sp>
        <p:nvSpPr>
          <p:cNvPr id="3" name="Rectangle 2"/>
          <p:cNvSpPr/>
          <p:nvPr/>
        </p:nvSpPr>
        <p:spPr>
          <a:xfrm>
            <a:off x="443145" y="1479754"/>
            <a:ext cx="2520000" cy="15050"/>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46"/>
          </a:p>
        </p:txBody>
      </p:sp>
      <p:sp>
        <p:nvSpPr>
          <p:cNvPr id="4" name="Rectangle 3"/>
          <p:cNvSpPr/>
          <p:nvPr/>
        </p:nvSpPr>
        <p:spPr>
          <a:xfrm>
            <a:off x="467203" y="1948418"/>
            <a:ext cx="10576875" cy="31267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46"/>
          </a:p>
        </p:txBody>
      </p:sp>
      <p:sp>
        <p:nvSpPr>
          <p:cNvPr id="5" name="TextBox 4"/>
          <p:cNvSpPr txBox="1"/>
          <p:nvPr/>
        </p:nvSpPr>
        <p:spPr>
          <a:xfrm>
            <a:off x="1362388" y="2435495"/>
            <a:ext cx="2449388" cy="309637"/>
          </a:xfrm>
          <a:prstGeom prst="rect">
            <a:avLst/>
          </a:prstGeom>
          <a:noFill/>
        </p:spPr>
        <p:txBody>
          <a:bodyPr wrap="none" lIns="0" tIns="0" rIns="0" bIns="0" anchor="ctr">
            <a:spAutoFit/>
          </a:bodyPr>
          <a:lstStyle/>
          <a:p>
            <a:pPr algn="l"/>
            <a:r>
              <a:rPr sz="2012" dirty="0">
                <a:solidFill>
                  <a:srgbClr val="000000"/>
                </a:solidFill>
                <a:latin typeface="Arial"/>
              </a:rPr>
              <a:t>•  Problem Statement</a:t>
            </a:r>
          </a:p>
        </p:txBody>
      </p:sp>
      <p:sp>
        <p:nvSpPr>
          <p:cNvPr id="6" name="TextBox 5"/>
          <p:cNvSpPr txBox="1"/>
          <p:nvPr/>
        </p:nvSpPr>
        <p:spPr>
          <a:xfrm>
            <a:off x="1362388" y="3045865"/>
            <a:ext cx="2447786" cy="309637"/>
          </a:xfrm>
          <a:prstGeom prst="rect">
            <a:avLst/>
          </a:prstGeom>
          <a:noFill/>
        </p:spPr>
        <p:txBody>
          <a:bodyPr wrap="none" lIns="0" tIns="0" rIns="0" bIns="0" anchor="ctr">
            <a:spAutoFit/>
          </a:bodyPr>
          <a:lstStyle/>
          <a:p>
            <a:pPr algn="l"/>
            <a:r>
              <a:rPr sz="2012" dirty="0">
                <a:solidFill>
                  <a:srgbClr val="000000"/>
                </a:solidFill>
                <a:latin typeface="Arial"/>
              </a:rPr>
              <a:t>•  Research Question</a:t>
            </a:r>
          </a:p>
        </p:txBody>
      </p:sp>
      <p:sp>
        <p:nvSpPr>
          <p:cNvPr id="7" name="TextBox 6"/>
          <p:cNvSpPr txBox="1"/>
          <p:nvPr/>
        </p:nvSpPr>
        <p:spPr>
          <a:xfrm>
            <a:off x="1362388" y="3656234"/>
            <a:ext cx="1928413" cy="309637"/>
          </a:xfrm>
          <a:prstGeom prst="rect">
            <a:avLst/>
          </a:prstGeom>
          <a:noFill/>
        </p:spPr>
        <p:txBody>
          <a:bodyPr wrap="none" lIns="0" tIns="0" rIns="0" bIns="0" anchor="ctr">
            <a:spAutoFit/>
          </a:bodyPr>
          <a:lstStyle/>
          <a:p>
            <a:pPr algn="l"/>
            <a:r>
              <a:rPr sz="2012" dirty="0">
                <a:solidFill>
                  <a:srgbClr val="000000"/>
                </a:solidFill>
                <a:latin typeface="Arial"/>
              </a:rPr>
              <a:t>•  Data Overview</a:t>
            </a:r>
          </a:p>
        </p:txBody>
      </p:sp>
      <p:sp>
        <p:nvSpPr>
          <p:cNvPr id="8" name="TextBox 7"/>
          <p:cNvSpPr txBox="1"/>
          <p:nvPr/>
        </p:nvSpPr>
        <p:spPr>
          <a:xfrm>
            <a:off x="1362388" y="4266604"/>
            <a:ext cx="1716817" cy="309637"/>
          </a:xfrm>
          <a:prstGeom prst="rect">
            <a:avLst/>
          </a:prstGeom>
          <a:noFill/>
        </p:spPr>
        <p:txBody>
          <a:bodyPr wrap="none" lIns="0" tIns="0" rIns="0" bIns="0" anchor="ctr">
            <a:spAutoFit/>
          </a:bodyPr>
          <a:lstStyle/>
          <a:p>
            <a:pPr algn="l"/>
            <a:r>
              <a:rPr sz="2012">
                <a:solidFill>
                  <a:srgbClr val="000000"/>
                </a:solidFill>
                <a:latin typeface="Arial"/>
              </a:rPr>
              <a:t>•  Methodology</a:t>
            </a:r>
          </a:p>
        </p:txBody>
      </p:sp>
      <p:sp>
        <p:nvSpPr>
          <p:cNvPr id="9" name="TextBox 8"/>
          <p:cNvSpPr txBox="1"/>
          <p:nvPr/>
        </p:nvSpPr>
        <p:spPr>
          <a:xfrm>
            <a:off x="6278788" y="2435495"/>
            <a:ext cx="2734916" cy="309637"/>
          </a:xfrm>
          <a:prstGeom prst="rect">
            <a:avLst/>
          </a:prstGeom>
          <a:noFill/>
        </p:spPr>
        <p:txBody>
          <a:bodyPr wrap="none" lIns="0" tIns="0" rIns="0" bIns="0" anchor="ctr">
            <a:spAutoFit/>
          </a:bodyPr>
          <a:lstStyle/>
          <a:p>
            <a:pPr algn="l"/>
            <a:r>
              <a:rPr sz="2012">
                <a:solidFill>
                  <a:srgbClr val="000000"/>
                </a:solidFill>
                <a:latin typeface="Arial"/>
              </a:rPr>
              <a:t>•  Analysis and Findings</a:t>
            </a:r>
          </a:p>
        </p:txBody>
      </p:sp>
      <p:sp>
        <p:nvSpPr>
          <p:cNvPr id="10" name="TextBox 9"/>
          <p:cNvSpPr txBox="1"/>
          <p:nvPr/>
        </p:nvSpPr>
        <p:spPr>
          <a:xfrm>
            <a:off x="6278788" y="3045865"/>
            <a:ext cx="2398477" cy="309637"/>
          </a:xfrm>
          <a:prstGeom prst="rect">
            <a:avLst/>
          </a:prstGeom>
          <a:noFill/>
        </p:spPr>
        <p:txBody>
          <a:bodyPr wrap="none" lIns="0" tIns="0" rIns="0" bIns="0" anchor="ctr">
            <a:spAutoFit/>
          </a:bodyPr>
          <a:lstStyle/>
          <a:p>
            <a:pPr algn="l"/>
            <a:r>
              <a:rPr sz="2012">
                <a:solidFill>
                  <a:srgbClr val="000000"/>
                </a:solidFill>
                <a:latin typeface="Arial"/>
              </a:rPr>
              <a:t>•  Hypothesis Testing</a:t>
            </a:r>
          </a:p>
        </p:txBody>
      </p:sp>
      <p:sp>
        <p:nvSpPr>
          <p:cNvPr id="11" name="TextBox 10"/>
          <p:cNvSpPr txBox="1"/>
          <p:nvPr/>
        </p:nvSpPr>
        <p:spPr>
          <a:xfrm>
            <a:off x="6278788" y="3656234"/>
            <a:ext cx="2390078" cy="309637"/>
          </a:xfrm>
          <a:prstGeom prst="rect">
            <a:avLst/>
          </a:prstGeom>
          <a:noFill/>
        </p:spPr>
        <p:txBody>
          <a:bodyPr wrap="none" lIns="0" tIns="0" rIns="0" bIns="0" anchor="ctr">
            <a:spAutoFit/>
          </a:bodyPr>
          <a:lstStyle/>
          <a:p>
            <a:pPr algn="l"/>
            <a:r>
              <a:rPr sz="2012">
                <a:solidFill>
                  <a:srgbClr val="000000"/>
                </a:solidFill>
                <a:latin typeface="Arial"/>
              </a:rPr>
              <a:t>•  Recommendations</a:t>
            </a:r>
          </a:p>
        </p:txBody>
      </p:sp>
      <p:sp>
        <p:nvSpPr>
          <p:cNvPr id="13" name="TextBox 12"/>
          <p:cNvSpPr txBox="1"/>
          <p:nvPr/>
        </p:nvSpPr>
        <p:spPr>
          <a:xfrm>
            <a:off x="174683" y="183171"/>
            <a:ext cx="4572000" cy="164592"/>
          </a:xfrm>
          <a:prstGeom prst="rect">
            <a:avLst/>
          </a:prstGeom>
          <a:noFill/>
        </p:spPr>
        <p:txBody>
          <a:bodyPr wrap="none" lIns="0" tIns="0" rIns="0" bIns="0">
            <a:spAutoFit/>
          </a:bodyPr>
          <a:lstStyle/>
          <a:p>
            <a:pPr algn="l"/>
            <a:r>
              <a:rPr sz="650" b="1" dirty="0">
                <a:solidFill>
                  <a:srgbClr val="787878"/>
                </a:solidFill>
                <a:latin typeface="Arial"/>
              </a:rPr>
              <a:t>MAXIMIZING REVENUE FOR DRIVERS</a:t>
            </a:r>
          </a:p>
        </p:txBody>
      </p:sp>
      <p:sp>
        <p:nvSpPr>
          <p:cNvPr id="14" name="Rectangle 13"/>
          <p:cNvSpPr/>
          <p:nvPr/>
        </p:nvSpPr>
        <p:spPr>
          <a:xfrm>
            <a:off x="114492" y="350919"/>
            <a:ext cx="11916000"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7" name="TextBox 16"/>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496710" y="418479"/>
            <a:ext cx="5599290" cy="736997"/>
          </a:xfrm>
          <a:prstGeom prst="rect">
            <a:avLst/>
          </a:prstGeom>
          <a:noFill/>
        </p:spPr>
        <p:txBody>
          <a:bodyPr wrap="none" lIns="0" tIns="0" rIns="0" bIns="0" anchor="ctr">
            <a:spAutoFit/>
          </a:bodyPr>
          <a:lstStyle/>
          <a:p>
            <a:pPr algn="l"/>
            <a:r>
              <a:rPr sz="4789" b="1" dirty="0">
                <a:solidFill>
                  <a:srgbClr val="000000"/>
                </a:solidFill>
                <a:latin typeface="Arial"/>
              </a:rPr>
              <a:t>Problem Statement</a:t>
            </a:r>
          </a:p>
        </p:txBody>
      </p:sp>
      <p:sp>
        <p:nvSpPr>
          <p:cNvPr id="3" name="Rectangle 2"/>
          <p:cNvSpPr/>
          <p:nvPr/>
        </p:nvSpPr>
        <p:spPr>
          <a:xfrm>
            <a:off x="547655" y="1155476"/>
            <a:ext cx="5652000" cy="15763"/>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24"/>
          </a:p>
        </p:txBody>
      </p:sp>
      <p:sp>
        <p:nvSpPr>
          <p:cNvPr id="4" name="TextBox 3"/>
          <p:cNvSpPr txBox="1"/>
          <p:nvPr/>
        </p:nvSpPr>
        <p:spPr>
          <a:xfrm>
            <a:off x="547656" y="1381371"/>
            <a:ext cx="7224570" cy="3389967"/>
          </a:xfrm>
          <a:prstGeom prst="rect">
            <a:avLst/>
          </a:prstGeom>
          <a:noFill/>
        </p:spPr>
        <p:txBody>
          <a:bodyPr wrap="square" lIns="0" tIns="0" rIns="0" bIns="0" anchor="t">
            <a:spAutoFit/>
          </a:bodyPr>
          <a:lstStyle/>
          <a:p>
            <a:endParaRPr sz="1724" dirty="0"/>
          </a:p>
          <a:p>
            <a:pPr>
              <a:lnSpc>
                <a:spcPct val="105000"/>
              </a:lnSpc>
              <a:spcAft>
                <a:spcPts val="1915"/>
              </a:spcAft>
            </a:pPr>
            <a:r>
              <a:rPr sz="1868" dirty="0">
                <a:solidFill>
                  <a:srgbClr val="000000"/>
                </a:solidFill>
                <a:latin typeface="Arial"/>
              </a:rPr>
              <a:t>In the fast-paced taxi booking sector, making the most of
revenue is essential for long-term success and driver
happiness.</a:t>
            </a:r>
          </a:p>
          <a:p>
            <a:pPr>
              <a:lnSpc>
                <a:spcPct val="105000"/>
              </a:lnSpc>
            </a:pPr>
            <a:r>
              <a:rPr sz="1868" dirty="0">
                <a:solidFill>
                  <a:srgbClr val="000000"/>
                </a:solidFill>
                <a:latin typeface="Arial"/>
              </a:rPr>
              <a:t>Our goal is to use data-driven insights to </a:t>
            </a:r>
            <a:r>
              <a:rPr sz="1868" b="1" dirty="0">
                <a:solidFill>
                  <a:srgbClr val="000000"/>
                </a:solidFill>
                <a:latin typeface="Arial"/>
              </a:rPr>
              <a:t>maximi</a:t>
            </a:r>
            <a:r>
              <a:rPr lang="en-US" sz="1868" b="1" dirty="0">
                <a:solidFill>
                  <a:srgbClr val="000000"/>
                </a:solidFill>
                <a:latin typeface="Arial"/>
              </a:rPr>
              <a:t>z</a:t>
            </a:r>
            <a:r>
              <a:rPr sz="1868" b="1" dirty="0">
                <a:solidFill>
                  <a:srgbClr val="000000"/>
                </a:solidFill>
                <a:latin typeface="Arial"/>
              </a:rPr>
              <a:t>e
revenue streams</a:t>
            </a:r>
            <a:r>
              <a:rPr sz="1868" dirty="0">
                <a:solidFill>
                  <a:srgbClr val="000000"/>
                </a:solidFill>
                <a:latin typeface="Arial"/>
              </a:rPr>
              <a:t> for taxi drivers in order to meet this need.</a:t>
            </a:r>
          </a:p>
          <a:p>
            <a:pPr>
              <a:lnSpc>
                <a:spcPct val="105000"/>
              </a:lnSpc>
            </a:pPr>
            <a:r>
              <a:rPr sz="1868" dirty="0">
                <a:solidFill>
                  <a:srgbClr val="000000"/>
                </a:solidFill>
                <a:latin typeface="Arial"/>
              </a:rPr>
              <a:t>Our research aims to determine whether payment
methods have an impact on fare pricing by focusing on the
relationship between payment type and fare amount..</a:t>
            </a:r>
          </a:p>
        </p:txBody>
      </p:sp>
      <p:sp>
        <p:nvSpPr>
          <p:cNvPr id="6" name="TextBox 5"/>
          <p:cNvSpPr txBox="1"/>
          <p:nvPr/>
        </p:nvSpPr>
        <p:spPr>
          <a:xfrm>
            <a:off x="201168" y="159247"/>
            <a:ext cx="4572000" cy="164592"/>
          </a:xfrm>
          <a:prstGeom prst="rect">
            <a:avLst/>
          </a:prstGeom>
          <a:noFill/>
        </p:spPr>
        <p:txBody>
          <a:bodyPr wrap="none" lIns="0" tIns="0" rIns="0" bIns="0">
            <a:spAutoFit/>
          </a:bodyPr>
          <a:lstStyle/>
          <a:p>
            <a:pPr algn="l"/>
            <a:r>
              <a:rPr sz="650" b="1" dirty="0">
                <a:solidFill>
                  <a:srgbClr val="787878"/>
                </a:solidFill>
                <a:latin typeface="Arial"/>
              </a:rPr>
              <a:t>MAXIMIZING REVENUE FOR DRIVERS</a:t>
            </a:r>
          </a:p>
        </p:txBody>
      </p:sp>
      <p:sp>
        <p:nvSpPr>
          <p:cNvPr id="7" name="Rectangle 6"/>
          <p:cNvSpPr/>
          <p:nvPr/>
        </p:nvSpPr>
        <p:spPr>
          <a:xfrm>
            <a:off x="155448" y="309756"/>
            <a:ext cx="11880000"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0" name="TextBox 9"/>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3</a:t>
            </a:r>
          </a:p>
        </p:txBody>
      </p:sp>
      <p:sp>
        <p:nvSpPr>
          <p:cNvPr id="11" name="Rectangle 10"/>
          <p:cNvSpPr/>
          <p:nvPr/>
        </p:nvSpPr>
        <p:spPr>
          <a:xfrm>
            <a:off x="8010144" y="786384"/>
            <a:ext cx="2990088" cy="4169663"/>
          </a:xfrm>
          <a:prstGeom prst="rect">
            <a:avLst/>
          </a:prstGeom>
          <a:solidFill>
            <a:srgbClr val="FAFAFA"/>
          </a:solidFill>
          <a:ln w="1016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i="1">
                <a:solidFill>
                  <a:srgbClr val="A5A5A5"/>
                </a:solidFill>
                <a:latin typeface="Arial"/>
              </a:rPr>
              <a:t>Visual area — add image later</a:t>
            </a:r>
          </a:p>
        </p:txBody>
      </p:sp>
      <p:pic>
        <p:nvPicPr>
          <p:cNvPr id="13" name="Picture 12" descr="problem_statement_illustration.png">
            <a:extLst>
              <a:ext uri="{FF2B5EF4-FFF2-40B4-BE49-F238E27FC236}">
                <a16:creationId xmlns:a16="http://schemas.microsoft.com/office/drawing/2014/main" id="{D2429ADC-2B97-12A2-45F8-1842ECA24AAE}"/>
              </a:ext>
            </a:extLst>
          </p:cNvPr>
          <p:cNvPicPr>
            <a:picLocks noChangeAspect="1"/>
          </p:cNvPicPr>
          <p:nvPr/>
        </p:nvPicPr>
        <p:blipFill>
          <a:blip r:embed="rId2"/>
          <a:stretch>
            <a:fillRect/>
          </a:stretch>
        </p:blipFill>
        <p:spPr>
          <a:xfrm>
            <a:off x="8013719" y="786977"/>
            <a:ext cx="2990151" cy="41730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2865280" y="815252"/>
            <a:ext cx="6147517" cy="809773"/>
          </a:xfrm>
          <a:prstGeom prst="rect">
            <a:avLst/>
          </a:prstGeom>
          <a:noFill/>
        </p:spPr>
        <p:txBody>
          <a:bodyPr wrap="none" lIns="0" tIns="0" rIns="0" bIns="0" anchor="ctr">
            <a:spAutoFit/>
          </a:bodyPr>
          <a:lstStyle/>
          <a:p>
            <a:pPr algn="l"/>
            <a:r>
              <a:rPr sz="5262" b="1" dirty="0">
                <a:solidFill>
                  <a:srgbClr val="000000"/>
                </a:solidFill>
                <a:latin typeface="Arial"/>
              </a:rPr>
              <a:t>Research Question</a:t>
            </a:r>
          </a:p>
        </p:txBody>
      </p:sp>
      <p:sp>
        <p:nvSpPr>
          <p:cNvPr id="3" name="Rectangle 2"/>
          <p:cNvSpPr/>
          <p:nvPr/>
        </p:nvSpPr>
        <p:spPr>
          <a:xfrm>
            <a:off x="1398993" y="1812164"/>
            <a:ext cx="9240487" cy="16039"/>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54"/>
          </a:p>
        </p:txBody>
      </p:sp>
      <p:sp>
        <p:nvSpPr>
          <p:cNvPr id="4" name="TextBox 3"/>
          <p:cNvSpPr txBox="1"/>
          <p:nvPr/>
        </p:nvSpPr>
        <p:spPr>
          <a:xfrm>
            <a:off x="1510610" y="2274748"/>
            <a:ext cx="9170779" cy="359970"/>
          </a:xfrm>
          <a:prstGeom prst="rect">
            <a:avLst/>
          </a:prstGeom>
          <a:noFill/>
        </p:spPr>
        <p:txBody>
          <a:bodyPr wrap="none" lIns="0" tIns="0" rIns="0" bIns="0" anchor="ctr">
            <a:spAutoFit/>
          </a:bodyPr>
          <a:lstStyle/>
          <a:p>
            <a:pPr algn="ctr"/>
            <a:r>
              <a:rPr sz="2339" b="1" dirty="0">
                <a:solidFill>
                  <a:srgbClr val="000000"/>
                </a:solidFill>
                <a:latin typeface="Arial"/>
              </a:rPr>
              <a:t>Is there a relationship between fare amount and payment type?</a:t>
            </a:r>
          </a:p>
        </p:txBody>
      </p:sp>
      <p:sp>
        <p:nvSpPr>
          <p:cNvPr id="5" name="TextBox 4"/>
          <p:cNvSpPr txBox="1"/>
          <p:nvPr/>
        </p:nvSpPr>
        <p:spPr>
          <a:xfrm>
            <a:off x="474314" y="2874169"/>
            <a:ext cx="11717686" cy="599908"/>
          </a:xfrm>
          <a:prstGeom prst="rect">
            <a:avLst/>
          </a:prstGeom>
          <a:noFill/>
        </p:spPr>
        <p:txBody>
          <a:bodyPr wrap="square" lIns="0" tIns="0" rIns="0" bIns="0" anchor="t">
            <a:spAutoFit/>
          </a:bodyPr>
          <a:lstStyle/>
          <a:p>
            <a:pPr algn="ctr"/>
            <a:r>
              <a:rPr sz="1949" dirty="0">
                <a:solidFill>
                  <a:srgbClr val="000000"/>
                </a:solidFill>
                <a:latin typeface="Arial"/>
              </a:rPr>
              <a:t>Can we nudge customers towards payment methods that generate higher revenue for drivers,
without negatively impacting customer experience?</a:t>
            </a:r>
          </a:p>
        </p:txBody>
      </p:sp>
      <p:sp>
        <p:nvSpPr>
          <p:cNvPr id="7" name="TextBox 6"/>
          <p:cNvSpPr txBox="1"/>
          <p:nvPr/>
        </p:nvSpPr>
        <p:spPr>
          <a:xfrm>
            <a:off x="151596" y="183056"/>
            <a:ext cx="4572000" cy="164592"/>
          </a:xfrm>
          <a:prstGeom prst="rect">
            <a:avLst/>
          </a:prstGeom>
          <a:noFill/>
        </p:spPr>
        <p:txBody>
          <a:bodyPr wrap="none" lIns="0" tIns="0" rIns="0" bIns="0">
            <a:spAutoFit/>
          </a:bodyPr>
          <a:lstStyle/>
          <a:p>
            <a:pPr algn="l"/>
            <a:r>
              <a:rPr sz="650" b="1" dirty="0">
                <a:solidFill>
                  <a:srgbClr val="787878"/>
                </a:solidFill>
                <a:latin typeface="Arial"/>
              </a:rPr>
              <a:t>MAXIMIZING REVENUE FOR DRIVERS</a:t>
            </a:r>
          </a:p>
        </p:txBody>
      </p:sp>
      <p:sp>
        <p:nvSpPr>
          <p:cNvPr id="8" name="Rectangle 7"/>
          <p:cNvSpPr/>
          <p:nvPr/>
        </p:nvSpPr>
        <p:spPr>
          <a:xfrm>
            <a:off x="124404" y="320680"/>
            <a:ext cx="11916000"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1" name="TextBox 10"/>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319383" y="461668"/>
            <a:ext cx="11174625" cy="2105034"/>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27"/>
          </a:p>
        </p:txBody>
      </p:sp>
      <p:sp>
        <p:nvSpPr>
          <p:cNvPr id="3" name="TextBox 2"/>
          <p:cNvSpPr txBox="1"/>
          <p:nvPr/>
        </p:nvSpPr>
        <p:spPr>
          <a:xfrm>
            <a:off x="685938" y="549166"/>
            <a:ext cx="4068421" cy="708527"/>
          </a:xfrm>
          <a:prstGeom prst="rect">
            <a:avLst/>
          </a:prstGeom>
          <a:noFill/>
        </p:spPr>
        <p:txBody>
          <a:bodyPr wrap="none" lIns="0" tIns="0" rIns="0" bIns="0" anchor="ctr">
            <a:spAutoFit/>
          </a:bodyPr>
          <a:lstStyle/>
          <a:p>
            <a:pPr algn="l"/>
            <a:r>
              <a:rPr sz="4604" b="1" dirty="0">
                <a:solidFill>
                  <a:srgbClr val="000000"/>
                </a:solidFill>
                <a:latin typeface="Arial"/>
              </a:rPr>
              <a:t>Data Overview</a:t>
            </a:r>
          </a:p>
        </p:txBody>
      </p:sp>
      <p:sp>
        <p:nvSpPr>
          <p:cNvPr id="4" name="Rectangle 3"/>
          <p:cNvSpPr/>
          <p:nvPr/>
        </p:nvSpPr>
        <p:spPr>
          <a:xfrm>
            <a:off x="694709" y="1315576"/>
            <a:ext cx="4253922" cy="15788"/>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27"/>
          </a:p>
        </p:txBody>
      </p:sp>
      <p:sp>
        <p:nvSpPr>
          <p:cNvPr id="5" name="TextBox 4"/>
          <p:cNvSpPr txBox="1"/>
          <p:nvPr/>
        </p:nvSpPr>
        <p:spPr>
          <a:xfrm>
            <a:off x="694708" y="1469769"/>
            <a:ext cx="11358410" cy="885435"/>
          </a:xfrm>
          <a:prstGeom prst="rect">
            <a:avLst/>
          </a:prstGeom>
          <a:noFill/>
        </p:spPr>
        <p:txBody>
          <a:bodyPr wrap="square" lIns="0" tIns="0" rIns="0" bIns="0" anchor="t">
            <a:spAutoFit/>
          </a:bodyPr>
          <a:lstStyle/>
          <a:p>
            <a:pPr algn="l"/>
            <a:r>
              <a:rPr sz="1918" dirty="0">
                <a:solidFill>
                  <a:srgbClr val="000000"/>
                </a:solidFill>
                <a:latin typeface="Arial"/>
              </a:rPr>
              <a:t>For this analysis, we utilized the comprehensive dataset of NYC Taxi Trip records, used data
cleaning and feature engineering procedures to concentrate solely on the relevant columns
essential for our investigation.</a:t>
            </a:r>
          </a:p>
        </p:txBody>
      </p:sp>
      <p:sp>
        <p:nvSpPr>
          <p:cNvPr id="6" name="TextBox 5"/>
          <p:cNvSpPr txBox="1"/>
          <p:nvPr/>
        </p:nvSpPr>
        <p:spPr>
          <a:xfrm>
            <a:off x="694709" y="2682206"/>
            <a:ext cx="5772414" cy="354264"/>
          </a:xfrm>
          <a:prstGeom prst="rect">
            <a:avLst/>
          </a:prstGeom>
          <a:noFill/>
        </p:spPr>
        <p:txBody>
          <a:bodyPr wrap="none" lIns="0" tIns="0" rIns="0" bIns="0" anchor="ctr">
            <a:spAutoFit/>
          </a:bodyPr>
          <a:lstStyle/>
          <a:p>
            <a:pPr algn="l"/>
            <a:r>
              <a:rPr sz="2302" b="1" dirty="0">
                <a:solidFill>
                  <a:srgbClr val="000000"/>
                </a:solidFill>
                <a:latin typeface="Arial"/>
              </a:rPr>
              <a:t>Relevant columns used for this research:</a:t>
            </a:r>
          </a:p>
        </p:txBody>
      </p:sp>
      <p:sp>
        <p:nvSpPr>
          <p:cNvPr id="7" name="TextBox 6"/>
          <p:cNvSpPr txBox="1"/>
          <p:nvPr/>
        </p:nvSpPr>
        <p:spPr>
          <a:xfrm>
            <a:off x="694709" y="3253746"/>
            <a:ext cx="2955937" cy="295145"/>
          </a:xfrm>
          <a:prstGeom prst="rect">
            <a:avLst/>
          </a:prstGeom>
          <a:noFill/>
        </p:spPr>
        <p:txBody>
          <a:bodyPr wrap="none" lIns="0" tIns="0" rIns="0" bIns="0" anchor="ctr">
            <a:spAutoFit/>
          </a:bodyPr>
          <a:lstStyle/>
          <a:p>
            <a:pPr algn="l"/>
            <a:r>
              <a:rPr sz="1918">
                <a:solidFill>
                  <a:srgbClr val="000000"/>
                </a:solidFill>
                <a:latin typeface="Arial"/>
              </a:rPr>
              <a:t>•  passenger_count (1 to 5)</a:t>
            </a:r>
          </a:p>
        </p:txBody>
      </p:sp>
      <p:sp>
        <p:nvSpPr>
          <p:cNvPr id="8" name="TextBox 7"/>
          <p:cNvSpPr txBox="1"/>
          <p:nvPr/>
        </p:nvSpPr>
        <p:spPr>
          <a:xfrm>
            <a:off x="694708" y="3709837"/>
            <a:ext cx="3353482" cy="295145"/>
          </a:xfrm>
          <a:prstGeom prst="rect">
            <a:avLst/>
          </a:prstGeom>
          <a:noFill/>
        </p:spPr>
        <p:txBody>
          <a:bodyPr wrap="none" lIns="0" tIns="0" rIns="0" bIns="0" anchor="ctr">
            <a:spAutoFit/>
          </a:bodyPr>
          <a:lstStyle/>
          <a:p>
            <a:pPr algn="l"/>
            <a:r>
              <a:rPr sz="1918">
                <a:solidFill>
                  <a:srgbClr val="000000"/>
                </a:solidFill>
                <a:latin typeface="Arial"/>
              </a:rPr>
              <a:t>•  payment_type (card or cash)</a:t>
            </a:r>
          </a:p>
        </p:txBody>
      </p:sp>
      <p:sp>
        <p:nvSpPr>
          <p:cNvPr id="9" name="TextBox 8"/>
          <p:cNvSpPr txBox="1"/>
          <p:nvPr/>
        </p:nvSpPr>
        <p:spPr>
          <a:xfrm>
            <a:off x="694709" y="4165927"/>
            <a:ext cx="1603003" cy="295145"/>
          </a:xfrm>
          <a:prstGeom prst="rect">
            <a:avLst/>
          </a:prstGeom>
          <a:noFill/>
        </p:spPr>
        <p:txBody>
          <a:bodyPr wrap="none" lIns="0" tIns="0" rIns="0" bIns="0" anchor="ctr">
            <a:spAutoFit/>
          </a:bodyPr>
          <a:lstStyle/>
          <a:p>
            <a:pPr algn="l"/>
            <a:r>
              <a:rPr sz="1918">
                <a:solidFill>
                  <a:srgbClr val="000000"/>
                </a:solidFill>
                <a:latin typeface="Arial"/>
              </a:rPr>
              <a:t>•  fare_amount</a:t>
            </a:r>
          </a:p>
        </p:txBody>
      </p:sp>
      <p:sp>
        <p:nvSpPr>
          <p:cNvPr id="10" name="TextBox 9"/>
          <p:cNvSpPr txBox="1"/>
          <p:nvPr/>
        </p:nvSpPr>
        <p:spPr>
          <a:xfrm>
            <a:off x="694708" y="4622018"/>
            <a:ext cx="2423740" cy="295145"/>
          </a:xfrm>
          <a:prstGeom prst="rect">
            <a:avLst/>
          </a:prstGeom>
          <a:noFill/>
        </p:spPr>
        <p:txBody>
          <a:bodyPr wrap="none" lIns="0" tIns="0" rIns="0" bIns="0" anchor="ctr">
            <a:spAutoFit/>
          </a:bodyPr>
          <a:lstStyle/>
          <a:p>
            <a:pPr algn="l"/>
            <a:r>
              <a:rPr sz="1918">
                <a:solidFill>
                  <a:srgbClr val="000000"/>
                </a:solidFill>
                <a:latin typeface="Arial"/>
              </a:rPr>
              <a:t>•  trip_distance (miles)</a:t>
            </a:r>
          </a:p>
        </p:txBody>
      </p:sp>
      <p:sp>
        <p:nvSpPr>
          <p:cNvPr id="11" name="TextBox 10"/>
          <p:cNvSpPr txBox="1"/>
          <p:nvPr/>
        </p:nvSpPr>
        <p:spPr>
          <a:xfrm>
            <a:off x="694708" y="5078109"/>
            <a:ext cx="2204130" cy="295145"/>
          </a:xfrm>
          <a:prstGeom prst="rect">
            <a:avLst/>
          </a:prstGeom>
          <a:noFill/>
        </p:spPr>
        <p:txBody>
          <a:bodyPr wrap="none" lIns="0" tIns="0" rIns="0" bIns="0" anchor="ctr">
            <a:spAutoFit/>
          </a:bodyPr>
          <a:lstStyle/>
          <a:p>
            <a:pPr algn="l"/>
            <a:r>
              <a:rPr sz="1918">
                <a:solidFill>
                  <a:srgbClr val="000000"/>
                </a:solidFill>
                <a:latin typeface="Arial"/>
              </a:rPr>
              <a:t>•  duration (minutes)</a:t>
            </a:r>
          </a:p>
        </p:txBody>
      </p:sp>
      <p:sp>
        <p:nvSpPr>
          <p:cNvPr id="13" name="TextBox 12"/>
          <p:cNvSpPr txBox="1"/>
          <p:nvPr/>
        </p:nvSpPr>
        <p:spPr>
          <a:xfrm>
            <a:off x="166575" y="158020"/>
            <a:ext cx="4572000" cy="164592"/>
          </a:xfrm>
          <a:prstGeom prst="rect">
            <a:avLst/>
          </a:prstGeom>
          <a:noFill/>
        </p:spPr>
        <p:txBody>
          <a:bodyPr wrap="none" lIns="0" tIns="0" rIns="0" bIns="0">
            <a:spAutoFit/>
          </a:bodyPr>
          <a:lstStyle/>
          <a:p>
            <a:pPr algn="l"/>
            <a:r>
              <a:rPr sz="650" b="1" dirty="0">
                <a:solidFill>
                  <a:srgbClr val="787878"/>
                </a:solidFill>
                <a:latin typeface="Arial"/>
              </a:rPr>
              <a:t>MAXIMIZING REVENUE FOR DRIVERS</a:t>
            </a:r>
          </a:p>
        </p:txBody>
      </p:sp>
      <p:sp>
        <p:nvSpPr>
          <p:cNvPr id="14" name="Rectangle 13"/>
          <p:cNvSpPr/>
          <p:nvPr/>
        </p:nvSpPr>
        <p:spPr>
          <a:xfrm>
            <a:off x="138725" y="301299"/>
            <a:ext cx="11916000"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7" name="TextBox 16"/>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5</a:t>
            </a:r>
          </a:p>
        </p:txBody>
      </p:sp>
      <p:sp>
        <p:nvSpPr>
          <p:cNvPr id="18" name="Rectangle 17"/>
          <p:cNvSpPr/>
          <p:nvPr/>
        </p:nvSpPr>
        <p:spPr>
          <a:xfrm>
            <a:off x="4453128" y="3200400"/>
            <a:ext cx="7040880" cy="2057400"/>
          </a:xfrm>
          <a:prstGeom prst="rect">
            <a:avLst/>
          </a:prstGeom>
          <a:solidFill>
            <a:srgbClr val="FAFAFA"/>
          </a:solidFill>
          <a:ln w="1016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i="1">
                <a:solidFill>
                  <a:srgbClr val="A5A5A5"/>
                </a:solidFill>
                <a:latin typeface="Arial"/>
              </a:rPr>
              <a:t>Chart area — add chart later</a:t>
            </a:r>
          </a:p>
        </p:txBody>
      </p:sp>
      <p:pic>
        <p:nvPicPr>
          <p:cNvPr id="20" name="Picture 19">
            <a:extLst>
              <a:ext uri="{FF2B5EF4-FFF2-40B4-BE49-F238E27FC236}">
                <a16:creationId xmlns:a16="http://schemas.microsoft.com/office/drawing/2014/main" id="{82B18321-5F01-990F-FF65-F65BA32C8AB3}"/>
              </a:ext>
            </a:extLst>
          </p:cNvPr>
          <p:cNvPicPr>
            <a:picLocks noChangeAspect="1"/>
          </p:cNvPicPr>
          <p:nvPr/>
        </p:nvPicPr>
        <p:blipFill>
          <a:blip r:embed="rId2"/>
          <a:stretch>
            <a:fillRect/>
          </a:stretch>
        </p:blipFill>
        <p:spPr>
          <a:xfrm>
            <a:off x="4499247" y="3269934"/>
            <a:ext cx="6948641" cy="19219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894990" y="452450"/>
            <a:ext cx="3348674" cy="645690"/>
          </a:xfrm>
          <a:prstGeom prst="rect">
            <a:avLst/>
          </a:prstGeom>
          <a:noFill/>
        </p:spPr>
        <p:txBody>
          <a:bodyPr wrap="none" lIns="0" tIns="0" rIns="0" bIns="0" anchor="ctr">
            <a:spAutoFit/>
          </a:bodyPr>
          <a:lstStyle/>
          <a:p>
            <a:pPr algn="l"/>
            <a:r>
              <a:rPr sz="4196" b="1" dirty="0">
                <a:solidFill>
                  <a:srgbClr val="000000"/>
                </a:solidFill>
                <a:latin typeface="Arial"/>
              </a:rPr>
              <a:t>Methodology</a:t>
            </a:r>
          </a:p>
        </p:txBody>
      </p:sp>
      <p:sp>
        <p:nvSpPr>
          <p:cNvPr id="3" name="Rectangle 2"/>
          <p:cNvSpPr/>
          <p:nvPr/>
        </p:nvSpPr>
        <p:spPr>
          <a:xfrm>
            <a:off x="894990" y="1244996"/>
            <a:ext cx="3900987" cy="14389"/>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74"/>
          </a:p>
        </p:txBody>
      </p:sp>
      <p:sp>
        <p:nvSpPr>
          <p:cNvPr id="4" name="Rectangle 3"/>
          <p:cNvSpPr/>
          <p:nvPr/>
        </p:nvSpPr>
        <p:spPr>
          <a:xfrm>
            <a:off x="894990" y="1582584"/>
            <a:ext cx="2358178" cy="623518"/>
          </a:xfrm>
          <a:prstGeom prst="rect">
            <a:avLst/>
          </a:prstGeom>
          <a:solidFill>
            <a:srgbClr val="F85033"/>
          </a:solidFill>
          <a:ln w="11430">
            <a:solidFill>
              <a:srgbClr val="282828"/>
            </a:solidFill>
          </a:ln>
        </p:spPr>
        <p:style>
          <a:lnRef idx="1">
            <a:schemeClr val="accent1"/>
          </a:lnRef>
          <a:fillRef idx="3">
            <a:schemeClr val="accent1"/>
          </a:fillRef>
          <a:effectRef idx="2">
            <a:schemeClr val="accent1"/>
          </a:effectRef>
          <a:fontRef idx="minor">
            <a:schemeClr val="lt1"/>
          </a:fontRef>
        </p:style>
        <p:txBody>
          <a:bodyPr wrap="square" lIns="127901" tIns="63951" rIns="127901" bIns="63951" rtlCol="0" anchor="ctr"/>
          <a:lstStyle/>
          <a:p>
            <a:pPr algn="ctr"/>
            <a:r>
              <a:rPr sz="1836" b="1">
                <a:solidFill>
                  <a:srgbClr val="FFFFFF"/>
                </a:solidFill>
                <a:latin typeface="Arial"/>
              </a:rPr>
              <a:t>Step</a:t>
            </a:r>
          </a:p>
        </p:txBody>
      </p:sp>
      <p:sp>
        <p:nvSpPr>
          <p:cNvPr id="5" name="Rectangle 4"/>
          <p:cNvSpPr/>
          <p:nvPr/>
        </p:nvSpPr>
        <p:spPr>
          <a:xfrm>
            <a:off x="3253168" y="1582584"/>
            <a:ext cx="7993825" cy="623518"/>
          </a:xfrm>
          <a:prstGeom prst="rect">
            <a:avLst/>
          </a:prstGeom>
          <a:solidFill>
            <a:srgbClr val="F85033"/>
          </a:solidFill>
          <a:ln w="11430">
            <a:solidFill>
              <a:srgbClr val="282828"/>
            </a:solidFill>
          </a:ln>
        </p:spPr>
        <p:style>
          <a:lnRef idx="1">
            <a:schemeClr val="accent1"/>
          </a:lnRef>
          <a:fillRef idx="3">
            <a:schemeClr val="accent1"/>
          </a:fillRef>
          <a:effectRef idx="2">
            <a:schemeClr val="accent1"/>
          </a:effectRef>
          <a:fontRef idx="minor">
            <a:schemeClr val="lt1"/>
          </a:fontRef>
        </p:style>
        <p:txBody>
          <a:bodyPr wrap="square" lIns="127901" tIns="63951" rIns="127901" bIns="63951" rtlCol="0" anchor="ctr"/>
          <a:lstStyle/>
          <a:p>
            <a:pPr algn="ctr"/>
            <a:r>
              <a:rPr sz="1836" b="1">
                <a:solidFill>
                  <a:srgbClr val="FFFFFF"/>
                </a:solidFill>
                <a:latin typeface="Arial"/>
              </a:rPr>
              <a:t>Description</a:t>
            </a:r>
          </a:p>
        </p:txBody>
      </p:sp>
      <p:sp>
        <p:nvSpPr>
          <p:cNvPr id="6" name="Rectangle 5"/>
          <p:cNvSpPr/>
          <p:nvPr/>
        </p:nvSpPr>
        <p:spPr>
          <a:xfrm>
            <a:off x="894990" y="2206101"/>
            <a:ext cx="2358178" cy="863333"/>
          </a:xfrm>
          <a:prstGeom prst="rect">
            <a:avLst/>
          </a:prstGeom>
          <a:solidFill>
            <a:srgbClr val="FFFFFF"/>
          </a:solidFill>
          <a:ln w="11430">
            <a:solidFill>
              <a:srgbClr val="282828"/>
            </a:solidFill>
          </a:ln>
        </p:spPr>
        <p:style>
          <a:lnRef idx="1">
            <a:schemeClr val="accent1"/>
          </a:lnRef>
          <a:fillRef idx="3">
            <a:schemeClr val="accent1"/>
          </a:fillRef>
          <a:effectRef idx="2">
            <a:schemeClr val="accent1"/>
          </a:effectRef>
          <a:fontRef idx="minor">
            <a:schemeClr val="lt1"/>
          </a:fontRef>
        </p:style>
        <p:txBody>
          <a:bodyPr wrap="square" lIns="127901" tIns="63951" rIns="127901" bIns="63951" rtlCol="0" anchor="ctr"/>
          <a:lstStyle/>
          <a:p>
            <a:pPr algn="l"/>
            <a:r>
              <a:rPr sz="1574" dirty="0">
                <a:solidFill>
                  <a:srgbClr val="000000"/>
                </a:solidFill>
                <a:latin typeface="Arial"/>
              </a:rPr>
              <a:t>Descriptive Analysis</a:t>
            </a:r>
          </a:p>
        </p:txBody>
      </p:sp>
      <p:sp>
        <p:nvSpPr>
          <p:cNvPr id="7" name="Rectangle 6"/>
          <p:cNvSpPr/>
          <p:nvPr/>
        </p:nvSpPr>
        <p:spPr>
          <a:xfrm>
            <a:off x="3253168" y="2206101"/>
            <a:ext cx="7993825" cy="863333"/>
          </a:xfrm>
          <a:prstGeom prst="rect">
            <a:avLst/>
          </a:prstGeom>
          <a:solidFill>
            <a:srgbClr val="FFFFFF"/>
          </a:solidFill>
          <a:ln w="11430">
            <a:solidFill>
              <a:srgbClr val="282828"/>
            </a:solidFill>
          </a:ln>
        </p:spPr>
        <p:style>
          <a:lnRef idx="1">
            <a:schemeClr val="accent1"/>
          </a:lnRef>
          <a:fillRef idx="3">
            <a:schemeClr val="accent1"/>
          </a:fillRef>
          <a:effectRef idx="2">
            <a:schemeClr val="accent1"/>
          </a:effectRef>
          <a:fontRef idx="minor">
            <a:schemeClr val="lt1"/>
          </a:fontRef>
        </p:style>
        <p:txBody>
          <a:bodyPr wrap="square" lIns="127901" tIns="63951" rIns="127901" bIns="63951" rtlCol="0" anchor="ctr"/>
          <a:lstStyle/>
          <a:p>
            <a:pPr algn="l"/>
            <a:r>
              <a:rPr sz="1486">
                <a:solidFill>
                  <a:srgbClr val="000000"/>
                </a:solidFill>
                <a:latin typeface="Arial"/>
              </a:rPr>
              <a:t>Performed statistical analysis to summarize key aspects of the data, focusing on fare
amounts and payment types.</a:t>
            </a:r>
          </a:p>
        </p:txBody>
      </p:sp>
      <p:sp>
        <p:nvSpPr>
          <p:cNvPr id="8" name="Rectangle 7"/>
          <p:cNvSpPr/>
          <p:nvPr/>
        </p:nvSpPr>
        <p:spPr>
          <a:xfrm>
            <a:off x="894990" y="3069436"/>
            <a:ext cx="2358178" cy="1638733"/>
          </a:xfrm>
          <a:prstGeom prst="rect">
            <a:avLst/>
          </a:prstGeom>
          <a:solidFill>
            <a:srgbClr val="FFFFFF"/>
          </a:solidFill>
          <a:ln w="11430">
            <a:solidFill>
              <a:srgbClr val="282828"/>
            </a:solidFill>
          </a:ln>
        </p:spPr>
        <p:style>
          <a:lnRef idx="1">
            <a:schemeClr val="accent1"/>
          </a:lnRef>
          <a:fillRef idx="3">
            <a:schemeClr val="accent1"/>
          </a:fillRef>
          <a:effectRef idx="2">
            <a:schemeClr val="accent1"/>
          </a:effectRef>
          <a:fontRef idx="minor">
            <a:schemeClr val="lt1"/>
          </a:fontRef>
        </p:style>
        <p:txBody>
          <a:bodyPr wrap="square" lIns="127901" tIns="63951" rIns="127901" bIns="63951" rtlCol="0" anchor="ctr"/>
          <a:lstStyle/>
          <a:p>
            <a:pPr algn="l"/>
            <a:r>
              <a:rPr sz="1574">
                <a:solidFill>
                  <a:srgbClr val="000000"/>
                </a:solidFill>
                <a:latin typeface="Arial"/>
              </a:rPr>
              <a:t>Hypothesis Testing</a:t>
            </a:r>
          </a:p>
        </p:txBody>
      </p:sp>
      <p:sp>
        <p:nvSpPr>
          <p:cNvPr id="9" name="Rectangle 8"/>
          <p:cNvSpPr/>
          <p:nvPr/>
        </p:nvSpPr>
        <p:spPr>
          <a:xfrm>
            <a:off x="3253168" y="3069436"/>
            <a:ext cx="7993825" cy="1638733"/>
          </a:xfrm>
          <a:prstGeom prst="rect">
            <a:avLst/>
          </a:prstGeom>
          <a:solidFill>
            <a:srgbClr val="FFFFFF"/>
          </a:solidFill>
          <a:ln w="11430">
            <a:solidFill>
              <a:srgbClr val="282828"/>
            </a:solidFill>
          </a:ln>
        </p:spPr>
        <p:style>
          <a:lnRef idx="1">
            <a:schemeClr val="accent1"/>
          </a:lnRef>
          <a:fillRef idx="3">
            <a:schemeClr val="accent1"/>
          </a:fillRef>
          <a:effectRef idx="2">
            <a:schemeClr val="accent1"/>
          </a:effectRef>
          <a:fontRef idx="minor">
            <a:schemeClr val="lt1"/>
          </a:fontRef>
        </p:style>
        <p:txBody>
          <a:bodyPr wrap="square" lIns="127901" tIns="63951" rIns="127901" bIns="63951" rtlCol="0" anchor="ctr"/>
          <a:lstStyle/>
          <a:p>
            <a:pPr algn="l"/>
            <a:r>
              <a:rPr sz="1486">
                <a:solidFill>
                  <a:srgbClr val="000000"/>
                </a:solidFill>
                <a:latin typeface="Arial"/>
              </a:rPr>
              <a:t>Conducted a T-test to evaluate the relationship between payment type and fare
amount, testing the hypothesis that different payment methods influence fare
amounts.</a:t>
            </a:r>
          </a:p>
        </p:txBody>
      </p:sp>
      <p:sp>
        <p:nvSpPr>
          <p:cNvPr id="11" name="TextBox 10"/>
          <p:cNvSpPr txBox="1"/>
          <p:nvPr/>
        </p:nvSpPr>
        <p:spPr>
          <a:xfrm>
            <a:off x="201168" y="166421"/>
            <a:ext cx="4572000" cy="164592"/>
          </a:xfrm>
          <a:prstGeom prst="rect">
            <a:avLst/>
          </a:prstGeom>
          <a:noFill/>
        </p:spPr>
        <p:txBody>
          <a:bodyPr wrap="none" lIns="0" tIns="0" rIns="0" bIns="0">
            <a:spAutoFit/>
          </a:bodyPr>
          <a:lstStyle/>
          <a:p>
            <a:pPr algn="l"/>
            <a:r>
              <a:rPr sz="650" b="1" dirty="0">
                <a:solidFill>
                  <a:srgbClr val="787878"/>
                </a:solidFill>
                <a:latin typeface="Arial"/>
              </a:rPr>
              <a:t>MAXIMIZING REVENUE FOR DRIVERS</a:t>
            </a:r>
          </a:p>
        </p:txBody>
      </p:sp>
      <p:sp>
        <p:nvSpPr>
          <p:cNvPr id="12" name="Rectangle 11"/>
          <p:cNvSpPr/>
          <p:nvPr/>
        </p:nvSpPr>
        <p:spPr>
          <a:xfrm>
            <a:off x="109728" y="313461"/>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5" name="TextBox 14"/>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665157" y="224661"/>
            <a:ext cx="4180632" cy="627544"/>
          </a:xfrm>
          <a:prstGeom prst="rect">
            <a:avLst/>
          </a:prstGeom>
          <a:noFill/>
        </p:spPr>
        <p:txBody>
          <a:bodyPr wrap="none" lIns="0" tIns="0" rIns="0" bIns="0" anchor="ctr">
            <a:spAutoFit/>
          </a:bodyPr>
          <a:lstStyle/>
          <a:p>
            <a:pPr algn="l"/>
            <a:r>
              <a:rPr sz="4078" b="1" dirty="0">
                <a:solidFill>
                  <a:srgbClr val="000000"/>
                </a:solidFill>
                <a:latin typeface="Arial"/>
              </a:rPr>
              <a:t>Journey Insights</a:t>
            </a:r>
          </a:p>
        </p:txBody>
      </p:sp>
      <p:sp>
        <p:nvSpPr>
          <p:cNvPr id="3" name="Rectangle 2"/>
          <p:cNvSpPr/>
          <p:nvPr/>
        </p:nvSpPr>
        <p:spPr>
          <a:xfrm>
            <a:off x="672925" y="914991"/>
            <a:ext cx="3783383" cy="13984"/>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29"/>
          </a:p>
        </p:txBody>
      </p:sp>
      <p:sp>
        <p:nvSpPr>
          <p:cNvPr id="4" name="TextBox 3"/>
          <p:cNvSpPr txBox="1"/>
          <p:nvPr/>
        </p:nvSpPr>
        <p:spPr>
          <a:xfrm>
            <a:off x="649619" y="1054547"/>
            <a:ext cx="9905160" cy="522964"/>
          </a:xfrm>
          <a:prstGeom prst="rect">
            <a:avLst/>
          </a:prstGeom>
          <a:noFill/>
        </p:spPr>
        <p:txBody>
          <a:bodyPr wrap="square" lIns="0" tIns="0" rIns="0" bIns="0" anchor="t">
            <a:spAutoFit/>
          </a:bodyPr>
          <a:lstStyle/>
          <a:p>
            <a:pPr algn="l"/>
            <a:r>
              <a:rPr sz="1699" dirty="0">
                <a:solidFill>
                  <a:srgbClr val="000000"/>
                </a:solidFill>
                <a:latin typeface="Arial"/>
              </a:rPr>
              <a:t>• Customers paying with cards tend to have a slightly higher average trip distance and fare amount
   compared to those paying with cash.</a:t>
            </a:r>
          </a:p>
        </p:txBody>
      </p:sp>
      <p:sp>
        <p:nvSpPr>
          <p:cNvPr id="5" name="TextBox 4"/>
          <p:cNvSpPr txBox="1"/>
          <p:nvPr/>
        </p:nvSpPr>
        <p:spPr>
          <a:xfrm>
            <a:off x="649619" y="1739464"/>
            <a:ext cx="9788628" cy="522964"/>
          </a:xfrm>
          <a:prstGeom prst="rect">
            <a:avLst/>
          </a:prstGeom>
          <a:noFill/>
        </p:spPr>
        <p:txBody>
          <a:bodyPr wrap="square" lIns="0" tIns="0" rIns="0" bIns="0" anchor="t">
            <a:spAutoFit/>
          </a:bodyPr>
          <a:lstStyle/>
          <a:p>
            <a:pPr algn="l"/>
            <a:r>
              <a:rPr sz="1699" dirty="0">
                <a:solidFill>
                  <a:srgbClr val="000000"/>
                </a:solidFill>
                <a:latin typeface="Arial"/>
              </a:rPr>
              <a:t>• Indicates that customers prefers to pay more with cards when they have high fare amount and
   long trip distance.</a:t>
            </a:r>
          </a:p>
        </p:txBody>
      </p:sp>
      <p:sp>
        <p:nvSpPr>
          <p:cNvPr id="7" name="Rectangle 6">
            <a:extLst>
              <a:ext uri="{FF2B5EF4-FFF2-40B4-BE49-F238E27FC236}">
                <a16:creationId xmlns:a16="http://schemas.microsoft.com/office/drawing/2014/main" id="{34CBED8B-84C2-0B7A-B2BD-1AF9C7746D02}"/>
              </a:ext>
            </a:extLst>
          </p:cNvPr>
          <p:cNvSpPr/>
          <p:nvPr/>
        </p:nvSpPr>
        <p:spPr>
          <a:xfrm>
            <a:off x="582612" y="2545199"/>
            <a:ext cx="6883508" cy="273874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46"/>
          </a:p>
        </p:txBody>
      </p:sp>
      <p:sp>
        <p:nvSpPr>
          <p:cNvPr id="9" name="TextBox 8"/>
          <p:cNvSpPr txBox="1"/>
          <p:nvPr/>
        </p:nvSpPr>
        <p:spPr>
          <a:xfrm>
            <a:off x="137695" y="141377"/>
            <a:ext cx="4572000" cy="164592"/>
          </a:xfrm>
          <a:prstGeom prst="rect">
            <a:avLst/>
          </a:prstGeom>
          <a:noFill/>
        </p:spPr>
        <p:txBody>
          <a:bodyPr wrap="none" lIns="0" tIns="0" rIns="0" bIns="0">
            <a:spAutoFit/>
          </a:bodyPr>
          <a:lstStyle/>
          <a:p>
            <a:pPr algn="l"/>
            <a:r>
              <a:rPr sz="650" b="1" dirty="0">
                <a:solidFill>
                  <a:srgbClr val="787878"/>
                </a:solidFill>
                <a:latin typeface="Arial"/>
              </a:rPr>
              <a:t>MAXIMIZING REVENUE FOR DRIVERS</a:t>
            </a:r>
          </a:p>
        </p:txBody>
      </p:sp>
      <p:sp>
        <p:nvSpPr>
          <p:cNvPr id="10" name="Rectangle 9"/>
          <p:cNvSpPr/>
          <p:nvPr/>
        </p:nvSpPr>
        <p:spPr>
          <a:xfrm>
            <a:off x="137695" y="267005"/>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3" name="TextBox 12"/>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7</a:t>
            </a:r>
          </a:p>
        </p:txBody>
      </p:sp>
      <p:pic>
        <p:nvPicPr>
          <p:cNvPr id="75" name="Picture 74">
            <a:extLst>
              <a:ext uri="{FF2B5EF4-FFF2-40B4-BE49-F238E27FC236}">
                <a16:creationId xmlns:a16="http://schemas.microsoft.com/office/drawing/2014/main" id="{56A9FF13-95B9-52D3-978F-845CE6844CBA}"/>
              </a:ext>
            </a:extLst>
          </p:cNvPr>
          <p:cNvPicPr>
            <a:picLocks noChangeAspect="1"/>
          </p:cNvPicPr>
          <p:nvPr/>
        </p:nvPicPr>
        <p:blipFill>
          <a:blip r:embed="rId2"/>
          <a:stretch>
            <a:fillRect/>
          </a:stretch>
        </p:blipFill>
        <p:spPr>
          <a:xfrm>
            <a:off x="665157" y="2642701"/>
            <a:ext cx="6672484" cy="2543738"/>
          </a:xfrm>
          <a:prstGeom prst="rect">
            <a:avLst/>
          </a:prstGeom>
        </p:spPr>
      </p:pic>
      <p:sp>
        <p:nvSpPr>
          <p:cNvPr id="77" name="Rectangle 76">
            <a:extLst>
              <a:ext uri="{FF2B5EF4-FFF2-40B4-BE49-F238E27FC236}">
                <a16:creationId xmlns:a16="http://schemas.microsoft.com/office/drawing/2014/main" id="{C898B8A3-8D39-41CA-E2CF-33D3DE570E17}"/>
              </a:ext>
            </a:extLst>
          </p:cNvPr>
          <p:cNvSpPr/>
          <p:nvPr/>
        </p:nvSpPr>
        <p:spPr>
          <a:xfrm>
            <a:off x="7634804" y="2069792"/>
            <a:ext cx="3675348" cy="317300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46"/>
          </a:p>
        </p:txBody>
      </p:sp>
      <p:grpSp>
        <p:nvGrpSpPr>
          <p:cNvPr id="15" name="Group 14">
            <a:extLst>
              <a:ext uri="{FF2B5EF4-FFF2-40B4-BE49-F238E27FC236}">
                <a16:creationId xmlns:a16="http://schemas.microsoft.com/office/drawing/2014/main" id="{2AE5C556-380D-217D-522B-F59392E85DDA}"/>
              </a:ext>
            </a:extLst>
          </p:cNvPr>
          <p:cNvGrpSpPr/>
          <p:nvPr/>
        </p:nvGrpSpPr>
        <p:grpSpPr>
          <a:xfrm>
            <a:off x="7674838" y="2168025"/>
            <a:ext cx="3595280" cy="3000658"/>
            <a:chOff x="3132283" y="71417"/>
            <a:chExt cx="5936487" cy="5561552"/>
          </a:xfrm>
        </p:grpSpPr>
        <p:sp>
          <p:nvSpPr>
            <p:cNvPr id="16" name="Shape 0">
              <a:extLst>
                <a:ext uri="{FF2B5EF4-FFF2-40B4-BE49-F238E27FC236}">
                  <a16:creationId xmlns:a16="http://schemas.microsoft.com/office/drawing/2014/main" id="{FC47FD31-6805-5AEB-481A-093BF13FA150}"/>
                </a:ext>
              </a:extLst>
            </p:cNvPr>
            <p:cNvSpPr/>
            <p:nvPr/>
          </p:nvSpPr>
          <p:spPr>
            <a:xfrm>
              <a:off x="3132283" y="71417"/>
              <a:ext cx="1555360" cy="1195733"/>
            </a:xfrm>
            <a:prstGeom prst="rect">
              <a:avLst/>
            </a:prstGeom>
            <a:solidFill>
              <a:srgbClr val="F45735"/>
            </a:solidFill>
            <a:ln w="12700">
              <a:solidFill>
                <a:srgbClr val="4B4B4B"/>
              </a:solidFill>
              <a:prstDash val="solid"/>
            </a:ln>
          </p:spPr>
          <p:txBody>
            <a:bodyPr/>
            <a:lstStyle/>
            <a:p>
              <a:endParaRPr lang="en-IN" sz="1757"/>
            </a:p>
          </p:txBody>
        </p:sp>
        <p:sp>
          <p:nvSpPr>
            <p:cNvPr id="17" name="Shape 1">
              <a:extLst>
                <a:ext uri="{FF2B5EF4-FFF2-40B4-BE49-F238E27FC236}">
                  <a16:creationId xmlns:a16="http://schemas.microsoft.com/office/drawing/2014/main" id="{1F0CB1D8-7680-F975-925E-30258B5CAB66}"/>
                </a:ext>
              </a:extLst>
            </p:cNvPr>
            <p:cNvSpPr/>
            <p:nvPr/>
          </p:nvSpPr>
          <p:spPr>
            <a:xfrm>
              <a:off x="4687643" y="71417"/>
              <a:ext cx="1537550" cy="1195733"/>
            </a:xfrm>
            <a:prstGeom prst="rect">
              <a:avLst/>
            </a:prstGeom>
            <a:solidFill>
              <a:srgbClr val="F45735"/>
            </a:solidFill>
            <a:ln w="12700">
              <a:solidFill>
                <a:srgbClr val="4B4B4B"/>
              </a:solidFill>
              <a:prstDash val="solid"/>
            </a:ln>
          </p:spPr>
          <p:txBody>
            <a:bodyPr/>
            <a:lstStyle/>
            <a:p>
              <a:endParaRPr lang="en-IN" sz="1757"/>
            </a:p>
          </p:txBody>
        </p:sp>
        <p:sp>
          <p:nvSpPr>
            <p:cNvPr id="18" name="Shape 2">
              <a:extLst>
                <a:ext uri="{FF2B5EF4-FFF2-40B4-BE49-F238E27FC236}">
                  <a16:creationId xmlns:a16="http://schemas.microsoft.com/office/drawing/2014/main" id="{E5C9E46C-9D15-8479-7753-5C825210EF3A}"/>
                </a:ext>
              </a:extLst>
            </p:cNvPr>
            <p:cNvSpPr/>
            <p:nvPr/>
          </p:nvSpPr>
          <p:spPr>
            <a:xfrm>
              <a:off x="6225192" y="71417"/>
              <a:ext cx="1110123" cy="1195733"/>
            </a:xfrm>
            <a:prstGeom prst="rect">
              <a:avLst/>
            </a:prstGeom>
            <a:solidFill>
              <a:srgbClr val="F45735"/>
            </a:solidFill>
            <a:ln w="12700">
              <a:solidFill>
                <a:srgbClr val="4B4B4B"/>
              </a:solidFill>
              <a:prstDash val="solid"/>
            </a:ln>
          </p:spPr>
          <p:txBody>
            <a:bodyPr/>
            <a:lstStyle/>
            <a:p>
              <a:endParaRPr lang="en-IN" sz="1757"/>
            </a:p>
          </p:txBody>
        </p:sp>
        <p:sp>
          <p:nvSpPr>
            <p:cNvPr id="19" name="Shape 3">
              <a:extLst>
                <a:ext uri="{FF2B5EF4-FFF2-40B4-BE49-F238E27FC236}">
                  <a16:creationId xmlns:a16="http://schemas.microsoft.com/office/drawing/2014/main" id="{0CB5A30F-7D09-C424-0C27-92CCEAD2B7C9}"/>
                </a:ext>
              </a:extLst>
            </p:cNvPr>
            <p:cNvSpPr/>
            <p:nvPr/>
          </p:nvSpPr>
          <p:spPr>
            <a:xfrm>
              <a:off x="7335316" y="71417"/>
              <a:ext cx="1733454" cy="1195733"/>
            </a:xfrm>
            <a:prstGeom prst="rect">
              <a:avLst/>
            </a:prstGeom>
            <a:solidFill>
              <a:srgbClr val="F45735"/>
            </a:solidFill>
            <a:ln w="12700">
              <a:solidFill>
                <a:srgbClr val="4B4B4B"/>
              </a:solidFill>
              <a:prstDash val="solid"/>
            </a:ln>
          </p:spPr>
          <p:txBody>
            <a:bodyPr/>
            <a:lstStyle/>
            <a:p>
              <a:endParaRPr lang="en-IN" sz="1757"/>
            </a:p>
          </p:txBody>
        </p:sp>
        <p:sp>
          <p:nvSpPr>
            <p:cNvPr id="20" name="Shape 4">
              <a:extLst>
                <a:ext uri="{FF2B5EF4-FFF2-40B4-BE49-F238E27FC236}">
                  <a16:creationId xmlns:a16="http://schemas.microsoft.com/office/drawing/2014/main" id="{AA05C348-2FDC-0E0A-53A1-05A13E3452C5}"/>
                </a:ext>
              </a:extLst>
            </p:cNvPr>
            <p:cNvSpPr/>
            <p:nvPr/>
          </p:nvSpPr>
          <p:spPr>
            <a:xfrm>
              <a:off x="3132283" y="1267151"/>
              <a:ext cx="1555360" cy="1195733"/>
            </a:xfrm>
            <a:prstGeom prst="rect">
              <a:avLst/>
            </a:prstGeom>
            <a:solidFill>
              <a:srgbClr val="FFFFFF"/>
            </a:solidFill>
            <a:ln w="12700">
              <a:solidFill>
                <a:srgbClr val="4B4B4B"/>
              </a:solidFill>
              <a:prstDash val="solid"/>
            </a:ln>
          </p:spPr>
          <p:txBody>
            <a:bodyPr/>
            <a:lstStyle/>
            <a:p>
              <a:endParaRPr lang="en-IN" sz="1757"/>
            </a:p>
          </p:txBody>
        </p:sp>
        <p:sp>
          <p:nvSpPr>
            <p:cNvPr id="21" name="Shape 5">
              <a:extLst>
                <a:ext uri="{FF2B5EF4-FFF2-40B4-BE49-F238E27FC236}">
                  <a16:creationId xmlns:a16="http://schemas.microsoft.com/office/drawing/2014/main" id="{8F999392-C41F-61C5-A7E0-E35E988F7B41}"/>
                </a:ext>
              </a:extLst>
            </p:cNvPr>
            <p:cNvSpPr/>
            <p:nvPr/>
          </p:nvSpPr>
          <p:spPr>
            <a:xfrm>
              <a:off x="4687643" y="1267151"/>
              <a:ext cx="1537550" cy="1195733"/>
            </a:xfrm>
            <a:prstGeom prst="rect">
              <a:avLst/>
            </a:prstGeom>
            <a:solidFill>
              <a:srgbClr val="FFFFFF"/>
            </a:solidFill>
            <a:ln w="12700">
              <a:solidFill>
                <a:srgbClr val="4B4B4B"/>
              </a:solidFill>
              <a:prstDash val="solid"/>
            </a:ln>
          </p:spPr>
          <p:txBody>
            <a:bodyPr/>
            <a:lstStyle/>
            <a:p>
              <a:endParaRPr lang="en-IN" sz="1757"/>
            </a:p>
          </p:txBody>
        </p:sp>
        <p:sp>
          <p:nvSpPr>
            <p:cNvPr id="22" name="Shape 6">
              <a:extLst>
                <a:ext uri="{FF2B5EF4-FFF2-40B4-BE49-F238E27FC236}">
                  <a16:creationId xmlns:a16="http://schemas.microsoft.com/office/drawing/2014/main" id="{2BB2822B-9EE7-10B9-ED4E-C9B677C3F9FF}"/>
                </a:ext>
              </a:extLst>
            </p:cNvPr>
            <p:cNvSpPr/>
            <p:nvPr/>
          </p:nvSpPr>
          <p:spPr>
            <a:xfrm>
              <a:off x="6225192" y="1267151"/>
              <a:ext cx="1110123" cy="1195733"/>
            </a:xfrm>
            <a:prstGeom prst="rect">
              <a:avLst/>
            </a:prstGeom>
            <a:solidFill>
              <a:srgbClr val="FFFFFF"/>
            </a:solidFill>
            <a:ln w="12700">
              <a:solidFill>
                <a:srgbClr val="4B4B4B"/>
              </a:solidFill>
              <a:prstDash val="solid"/>
            </a:ln>
          </p:spPr>
          <p:txBody>
            <a:bodyPr/>
            <a:lstStyle/>
            <a:p>
              <a:endParaRPr lang="en-IN" sz="1757"/>
            </a:p>
          </p:txBody>
        </p:sp>
        <p:sp>
          <p:nvSpPr>
            <p:cNvPr id="23" name="Shape 7">
              <a:extLst>
                <a:ext uri="{FF2B5EF4-FFF2-40B4-BE49-F238E27FC236}">
                  <a16:creationId xmlns:a16="http://schemas.microsoft.com/office/drawing/2014/main" id="{BB0187D3-E4F7-7CE2-48DE-8936D6D93F5C}"/>
                </a:ext>
              </a:extLst>
            </p:cNvPr>
            <p:cNvSpPr/>
            <p:nvPr/>
          </p:nvSpPr>
          <p:spPr>
            <a:xfrm>
              <a:off x="7335316" y="1267151"/>
              <a:ext cx="1733454" cy="1195733"/>
            </a:xfrm>
            <a:prstGeom prst="rect">
              <a:avLst/>
            </a:prstGeom>
            <a:solidFill>
              <a:srgbClr val="FFFFFF"/>
            </a:solidFill>
            <a:ln w="12700">
              <a:solidFill>
                <a:srgbClr val="4B4B4B"/>
              </a:solidFill>
              <a:prstDash val="solid"/>
            </a:ln>
          </p:spPr>
          <p:txBody>
            <a:bodyPr/>
            <a:lstStyle/>
            <a:p>
              <a:endParaRPr lang="en-IN" sz="1757"/>
            </a:p>
          </p:txBody>
        </p:sp>
        <p:sp>
          <p:nvSpPr>
            <p:cNvPr id="24" name="Shape 8">
              <a:extLst>
                <a:ext uri="{FF2B5EF4-FFF2-40B4-BE49-F238E27FC236}">
                  <a16:creationId xmlns:a16="http://schemas.microsoft.com/office/drawing/2014/main" id="{C067C5D5-BFFA-602A-4C72-4E9BC53508BE}"/>
                </a:ext>
              </a:extLst>
            </p:cNvPr>
            <p:cNvSpPr/>
            <p:nvPr/>
          </p:nvSpPr>
          <p:spPr>
            <a:xfrm>
              <a:off x="3132283" y="2462883"/>
              <a:ext cx="1555360" cy="1001079"/>
            </a:xfrm>
            <a:prstGeom prst="rect">
              <a:avLst/>
            </a:prstGeom>
            <a:solidFill>
              <a:srgbClr val="FFFFFF"/>
            </a:solidFill>
            <a:ln w="12700">
              <a:solidFill>
                <a:srgbClr val="4B4B4B"/>
              </a:solidFill>
              <a:prstDash val="solid"/>
            </a:ln>
          </p:spPr>
          <p:txBody>
            <a:bodyPr/>
            <a:lstStyle/>
            <a:p>
              <a:endParaRPr lang="en-IN" sz="1757"/>
            </a:p>
          </p:txBody>
        </p:sp>
        <p:sp>
          <p:nvSpPr>
            <p:cNvPr id="25" name="Shape 9">
              <a:extLst>
                <a:ext uri="{FF2B5EF4-FFF2-40B4-BE49-F238E27FC236}">
                  <a16:creationId xmlns:a16="http://schemas.microsoft.com/office/drawing/2014/main" id="{35242FD8-208B-3C91-26D8-EA3BEC4B9452}"/>
                </a:ext>
              </a:extLst>
            </p:cNvPr>
            <p:cNvSpPr/>
            <p:nvPr/>
          </p:nvSpPr>
          <p:spPr>
            <a:xfrm>
              <a:off x="4687643" y="2462883"/>
              <a:ext cx="1537550" cy="1001079"/>
            </a:xfrm>
            <a:prstGeom prst="rect">
              <a:avLst/>
            </a:prstGeom>
            <a:solidFill>
              <a:srgbClr val="FFFFFF"/>
            </a:solidFill>
            <a:ln w="12700">
              <a:solidFill>
                <a:srgbClr val="4B4B4B"/>
              </a:solidFill>
              <a:prstDash val="solid"/>
            </a:ln>
          </p:spPr>
          <p:txBody>
            <a:bodyPr/>
            <a:lstStyle/>
            <a:p>
              <a:endParaRPr lang="en-IN" sz="1757"/>
            </a:p>
          </p:txBody>
        </p:sp>
        <p:sp>
          <p:nvSpPr>
            <p:cNvPr id="26" name="Shape 10">
              <a:extLst>
                <a:ext uri="{FF2B5EF4-FFF2-40B4-BE49-F238E27FC236}">
                  <a16:creationId xmlns:a16="http://schemas.microsoft.com/office/drawing/2014/main" id="{04EFF2E6-513D-1F22-5D61-A1A9F2B12E20}"/>
                </a:ext>
              </a:extLst>
            </p:cNvPr>
            <p:cNvSpPr/>
            <p:nvPr/>
          </p:nvSpPr>
          <p:spPr>
            <a:xfrm>
              <a:off x="6225192" y="2462883"/>
              <a:ext cx="1110123" cy="1001079"/>
            </a:xfrm>
            <a:prstGeom prst="rect">
              <a:avLst/>
            </a:prstGeom>
            <a:solidFill>
              <a:srgbClr val="FFFFFF"/>
            </a:solidFill>
            <a:ln w="12700">
              <a:solidFill>
                <a:srgbClr val="4B4B4B"/>
              </a:solidFill>
              <a:prstDash val="solid"/>
            </a:ln>
          </p:spPr>
          <p:txBody>
            <a:bodyPr/>
            <a:lstStyle/>
            <a:p>
              <a:endParaRPr lang="en-IN" sz="1757"/>
            </a:p>
          </p:txBody>
        </p:sp>
        <p:sp>
          <p:nvSpPr>
            <p:cNvPr id="27" name="Shape 11">
              <a:extLst>
                <a:ext uri="{FF2B5EF4-FFF2-40B4-BE49-F238E27FC236}">
                  <a16:creationId xmlns:a16="http://schemas.microsoft.com/office/drawing/2014/main" id="{52E1DDC6-80C2-8D3F-61A5-03D76BC02B63}"/>
                </a:ext>
              </a:extLst>
            </p:cNvPr>
            <p:cNvSpPr/>
            <p:nvPr/>
          </p:nvSpPr>
          <p:spPr>
            <a:xfrm>
              <a:off x="7335316" y="2462883"/>
              <a:ext cx="1733454" cy="1001079"/>
            </a:xfrm>
            <a:prstGeom prst="rect">
              <a:avLst/>
            </a:prstGeom>
            <a:solidFill>
              <a:srgbClr val="FFFFFF"/>
            </a:solidFill>
            <a:ln w="12700">
              <a:solidFill>
                <a:srgbClr val="4B4B4B"/>
              </a:solidFill>
              <a:prstDash val="solid"/>
            </a:ln>
          </p:spPr>
          <p:txBody>
            <a:bodyPr/>
            <a:lstStyle/>
            <a:p>
              <a:endParaRPr lang="en-IN" sz="1757"/>
            </a:p>
          </p:txBody>
        </p:sp>
        <p:sp>
          <p:nvSpPr>
            <p:cNvPr id="28" name="Shape 12">
              <a:extLst>
                <a:ext uri="{FF2B5EF4-FFF2-40B4-BE49-F238E27FC236}">
                  <a16:creationId xmlns:a16="http://schemas.microsoft.com/office/drawing/2014/main" id="{CCC16DD5-D7BA-E670-AA69-BFBC023F0406}"/>
                </a:ext>
              </a:extLst>
            </p:cNvPr>
            <p:cNvSpPr/>
            <p:nvPr/>
          </p:nvSpPr>
          <p:spPr>
            <a:xfrm>
              <a:off x="3132283" y="3463963"/>
              <a:ext cx="1555360" cy="1145680"/>
            </a:xfrm>
            <a:prstGeom prst="rect">
              <a:avLst/>
            </a:prstGeom>
            <a:solidFill>
              <a:srgbClr val="FFFFFF"/>
            </a:solidFill>
            <a:ln w="12700">
              <a:solidFill>
                <a:srgbClr val="4B4B4B"/>
              </a:solidFill>
              <a:prstDash val="solid"/>
            </a:ln>
          </p:spPr>
          <p:txBody>
            <a:bodyPr/>
            <a:lstStyle/>
            <a:p>
              <a:endParaRPr lang="en-IN" sz="1757"/>
            </a:p>
          </p:txBody>
        </p:sp>
        <p:sp>
          <p:nvSpPr>
            <p:cNvPr id="29" name="Shape 13">
              <a:extLst>
                <a:ext uri="{FF2B5EF4-FFF2-40B4-BE49-F238E27FC236}">
                  <a16:creationId xmlns:a16="http://schemas.microsoft.com/office/drawing/2014/main" id="{1B8FBD1C-1467-FACD-8F45-B41D55BB67B3}"/>
                </a:ext>
              </a:extLst>
            </p:cNvPr>
            <p:cNvSpPr/>
            <p:nvPr/>
          </p:nvSpPr>
          <p:spPr>
            <a:xfrm>
              <a:off x="4687643" y="3463963"/>
              <a:ext cx="1537550" cy="1145680"/>
            </a:xfrm>
            <a:prstGeom prst="rect">
              <a:avLst/>
            </a:prstGeom>
            <a:solidFill>
              <a:srgbClr val="FFFFFF"/>
            </a:solidFill>
            <a:ln w="12700">
              <a:solidFill>
                <a:srgbClr val="4B4B4B"/>
              </a:solidFill>
              <a:prstDash val="solid"/>
            </a:ln>
          </p:spPr>
          <p:txBody>
            <a:bodyPr/>
            <a:lstStyle/>
            <a:p>
              <a:endParaRPr lang="en-IN" sz="1757"/>
            </a:p>
          </p:txBody>
        </p:sp>
        <p:sp>
          <p:nvSpPr>
            <p:cNvPr id="30" name="Shape 14">
              <a:extLst>
                <a:ext uri="{FF2B5EF4-FFF2-40B4-BE49-F238E27FC236}">
                  <a16:creationId xmlns:a16="http://schemas.microsoft.com/office/drawing/2014/main" id="{BD306BD2-8CE3-80BB-45AB-CFA4DB38E0E9}"/>
                </a:ext>
              </a:extLst>
            </p:cNvPr>
            <p:cNvSpPr/>
            <p:nvPr/>
          </p:nvSpPr>
          <p:spPr>
            <a:xfrm>
              <a:off x="6225192" y="3463963"/>
              <a:ext cx="1110123" cy="1145680"/>
            </a:xfrm>
            <a:prstGeom prst="rect">
              <a:avLst/>
            </a:prstGeom>
            <a:solidFill>
              <a:srgbClr val="FFFFFF"/>
            </a:solidFill>
            <a:ln w="12700">
              <a:solidFill>
                <a:srgbClr val="4B4B4B"/>
              </a:solidFill>
              <a:prstDash val="solid"/>
            </a:ln>
          </p:spPr>
          <p:txBody>
            <a:bodyPr/>
            <a:lstStyle/>
            <a:p>
              <a:endParaRPr lang="en-IN" sz="1757"/>
            </a:p>
          </p:txBody>
        </p:sp>
        <p:sp>
          <p:nvSpPr>
            <p:cNvPr id="31" name="Shape 15">
              <a:extLst>
                <a:ext uri="{FF2B5EF4-FFF2-40B4-BE49-F238E27FC236}">
                  <a16:creationId xmlns:a16="http://schemas.microsoft.com/office/drawing/2014/main" id="{EB2F82D9-9595-AAF1-AA7F-FF12141E5DDF}"/>
                </a:ext>
              </a:extLst>
            </p:cNvPr>
            <p:cNvSpPr/>
            <p:nvPr/>
          </p:nvSpPr>
          <p:spPr>
            <a:xfrm>
              <a:off x="7335316" y="3463963"/>
              <a:ext cx="1733454" cy="1145680"/>
            </a:xfrm>
            <a:prstGeom prst="rect">
              <a:avLst/>
            </a:prstGeom>
            <a:solidFill>
              <a:srgbClr val="FFFFFF"/>
            </a:solidFill>
            <a:ln w="12700">
              <a:solidFill>
                <a:srgbClr val="4B4B4B"/>
              </a:solidFill>
              <a:prstDash val="solid"/>
            </a:ln>
          </p:spPr>
          <p:txBody>
            <a:bodyPr/>
            <a:lstStyle/>
            <a:p>
              <a:endParaRPr lang="en-IN" sz="1757"/>
            </a:p>
          </p:txBody>
        </p:sp>
        <p:sp>
          <p:nvSpPr>
            <p:cNvPr id="32" name="Shape 16">
              <a:extLst>
                <a:ext uri="{FF2B5EF4-FFF2-40B4-BE49-F238E27FC236}">
                  <a16:creationId xmlns:a16="http://schemas.microsoft.com/office/drawing/2014/main" id="{FB686BE7-56AE-16A0-5D49-7FCFC841692D}"/>
                </a:ext>
              </a:extLst>
            </p:cNvPr>
            <p:cNvSpPr/>
            <p:nvPr/>
          </p:nvSpPr>
          <p:spPr>
            <a:xfrm>
              <a:off x="3132283" y="4609643"/>
              <a:ext cx="1555360" cy="1023325"/>
            </a:xfrm>
            <a:prstGeom prst="rect">
              <a:avLst/>
            </a:prstGeom>
            <a:solidFill>
              <a:srgbClr val="FFFFFF"/>
            </a:solidFill>
            <a:ln w="12700">
              <a:solidFill>
                <a:srgbClr val="4B4B4B"/>
              </a:solidFill>
              <a:prstDash val="solid"/>
            </a:ln>
          </p:spPr>
          <p:txBody>
            <a:bodyPr/>
            <a:lstStyle/>
            <a:p>
              <a:endParaRPr lang="en-IN" sz="1757"/>
            </a:p>
          </p:txBody>
        </p:sp>
        <p:sp>
          <p:nvSpPr>
            <p:cNvPr id="33" name="Shape 17">
              <a:extLst>
                <a:ext uri="{FF2B5EF4-FFF2-40B4-BE49-F238E27FC236}">
                  <a16:creationId xmlns:a16="http://schemas.microsoft.com/office/drawing/2014/main" id="{98D526FE-F6F7-0CF0-FC97-3665289BDDB7}"/>
                </a:ext>
              </a:extLst>
            </p:cNvPr>
            <p:cNvSpPr/>
            <p:nvPr/>
          </p:nvSpPr>
          <p:spPr>
            <a:xfrm>
              <a:off x="4687643" y="4609643"/>
              <a:ext cx="1537550" cy="1023325"/>
            </a:xfrm>
            <a:prstGeom prst="rect">
              <a:avLst/>
            </a:prstGeom>
            <a:solidFill>
              <a:srgbClr val="FFFFFF"/>
            </a:solidFill>
            <a:ln w="12700">
              <a:solidFill>
                <a:srgbClr val="4B4B4B"/>
              </a:solidFill>
              <a:prstDash val="solid"/>
            </a:ln>
          </p:spPr>
          <p:txBody>
            <a:bodyPr/>
            <a:lstStyle/>
            <a:p>
              <a:endParaRPr lang="en-IN" sz="1757"/>
            </a:p>
          </p:txBody>
        </p:sp>
        <p:sp>
          <p:nvSpPr>
            <p:cNvPr id="34" name="Shape 18">
              <a:extLst>
                <a:ext uri="{FF2B5EF4-FFF2-40B4-BE49-F238E27FC236}">
                  <a16:creationId xmlns:a16="http://schemas.microsoft.com/office/drawing/2014/main" id="{A604C759-A5C2-1C1C-8707-40C338697028}"/>
                </a:ext>
              </a:extLst>
            </p:cNvPr>
            <p:cNvSpPr/>
            <p:nvPr/>
          </p:nvSpPr>
          <p:spPr>
            <a:xfrm>
              <a:off x="6225192" y="4609643"/>
              <a:ext cx="1110123" cy="1023325"/>
            </a:xfrm>
            <a:prstGeom prst="rect">
              <a:avLst/>
            </a:prstGeom>
            <a:solidFill>
              <a:srgbClr val="FFFFFF"/>
            </a:solidFill>
            <a:ln w="12700">
              <a:solidFill>
                <a:srgbClr val="4B4B4B"/>
              </a:solidFill>
              <a:prstDash val="solid"/>
            </a:ln>
          </p:spPr>
          <p:txBody>
            <a:bodyPr/>
            <a:lstStyle/>
            <a:p>
              <a:endParaRPr lang="en-IN" sz="1757"/>
            </a:p>
          </p:txBody>
        </p:sp>
        <p:sp>
          <p:nvSpPr>
            <p:cNvPr id="35" name="Shape 19">
              <a:extLst>
                <a:ext uri="{FF2B5EF4-FFF2-40B4-BE49-F238E27FC236}">
                  <a16:creationId xmlns:a16="http://schemas.microsoft.com/office/drawing/2014/main" id="{F679ABF2-A6B1-6AD5-C53E-4EF433145796}"/>
                </a:ext>
              </a:extLst>
            </p:cNvPr>
            <p:cNvSpPr/>
            <p:nvPr/>
          </p:nvSpPr>
          <p:spPr>
            <a:xfrm>
              <a:off x="7335316" y="4609643"/>
              <a:ext cx="1733454" cy="1023325"/>
            </a:xfrm>
            <a:prstGeom prst="rect">
              <a:avLst/>
            </a:prstGeom>
            <a:solidFill>
              <a:srgbClr val="FFFFFF"/>
            </a:solidFill>
            <a:ln w="12700">
              <a:solidFill>
                <a:srgbClr val="4B4B4B"/>
              </a:solidFill>
              <a:prstDash val="solid"/>
            </a:ln>
          </p:spPr>
          <p:txBody>
            <a:bodyPr/>
            <a:lstStyle/>
            <a:p>
              <a:endParaRPr lang="en-IN" sz="1757"/>
            </a:p>
          </p:txBody>
        </p:sp>
        <p:sp>
          <p:nvSpPr>
            <p:cNvPr id="36" name="Text 20">
              <a:extLst>
                <a:ext uri="{FF2B5EF4-FFF2-40B4-BE49-F238E27FC236}">
                  <a16:creationId xmlns:a16="http://schemas.microsoft.com/office/drawing/2014/main" id="{3D046DB8-EB18-4880-FB95-96290DBB2CE5}"/>
                </a:ext>
              </a:extLst>
            </p:cNvPr>
            <p:cNvSpPr/>
            <p:nvPr/>
          </p:nvSpPr>
          <p:spPr>
            <a:xfrm>
              <a:off x="4687643" y="89271"/>
              <a:ext cx="1537550" cy="1168952"/>
            </a:xfrm>
            <a:prstGeom prst="rect">
              <a:avLst/>
            </a:prstGeom>
            <a:noFill/>
            <a:ln/>
          </p:spPr>
          <p:txBody>
            <a:bodyPr wrap="square" lIns="0" tIns="0" rIns="0" bIns="0" rtlCol="0" anchor="ctr">
              <a:normAutofit/>
            </a:bodyPr>
            <a:lstStyle/>
            <a:p>
              <a:pPr algn="ctr"/>
              <a:r>
                <a:rPr lang="en-US" sz="1660" b="1" dirty="0">
                  <a:solidFill>
                    <a:srgbClr val="FFFFFF"/>
                  </a:solidFill>
                  <a:latin typeface="Arial" pitchFamily="34" charset="0"/>
                  <a:ea typeface="Arial" pitchFamily="34" charset="-122"/>
                  <a:cs typeface="Arial" pitchFamily="34" charset="-120"/>
                </a:rPr>
                <a:t>Payment</a:t>
              </a:r>
              <a:endParaRPr lang="en-US" sz="1660" dirty="0"/>
            </a:p>
            <a:p>
              <a:pPr algn="ctr"/>
              <a:r>
                <a:rPr lang="en-US" sz="1660" b="1" dirty="0">
                  <a:solidFill>
                    <a:srgbClr val="FFFFFF"/>
                  </a:solidFill>
                  <a:latin typeface="Arial" pitchFamily="34" charset="0"/>
                  <a:ea typeface="Arial" pitchFamily="34" charset="-122"/>
                  <a:cs typeface="Arial" pitchFamily="34" charset="-120"/>
                </a:rPr>
                <a:t>Type</a:t>
              </a:r>
              <a:endParaRPr lang="en-US" sz="1660" dirty="0"/>
            </a:p>
          </p:txBody>
        </p:sp>
        <p:sp>
          <p:nvSpPr>
            <p:cNvPr id="37" name="Text 21">
              <a:extLst>
                <a:ext uri="{FF2B5EF4-FFF2-40B4-BE49-F238E27FC236}">
                  <a16:creationId xmlns:a16="http://schemas.microsoft.com/office/drawing/2014/main" id="{735F34CC-4ED2-C67C-6553-D63777B29E18}"/>
                </a:ext>
              </a:extLst>
            </p:cNvPr>
            <p:cNvSpPr/>
            <p:nvPr/>
          </p:nvSpPr>
          <p:spPr>
            <a:xfrm>
              <a:off x="6225192" y="89271"/>
              <a:ext cx="1110123" cy="1168952"/>
            </a:xfrm>
            <a:prstGeom prst="rect">
              <a:avLst/>
            </a:prstGeom>
            <a:noFill/>
            <a:ln/>
          </p:spPr>
          <p:txBody>
            <a:bodyPr wrap="square" lIns="0" tIns="0" rIns="0" bIns="0" rtlCol="0" anchor="ctr">
              <a:normAutofit/>
            </a:bodyPr>
            <a:lstStyle/>
            <a:p>
              <a:pPr algn="ctr"/>
              <a:r>
                <a:rPr lang="en-US" sz="1660" b="1" dirty="0">
                  <a:solidFill>
                    <a:srgbClr val="FFFFFF"/>
                  </a:solidFill>
                  <a:latin typeface="Arial" pitchFamily="34" charset="0"/>
                  <a:ea typeface="Arial" pitchFamily="34" charset="-122"/>
                  <a:cs typeface="Arial" pitchFamily="34" charset="-120"/>
                </a:rPr>
                <a:t>Mean</a:t>
              </a:r>
              <a:endParaRPr lang="en-US" sz="1660" dirty="0"/>
            </a:p>
          </p:txBody>
        </p:sp>
        <p:sp>
          <p:nvSpPr>
            <p:cNvPr id="38" name="Text 22">
              <a:extLst>
                <a:ext uri="{FF2B5EF4-FFF2-40B4-BE49-F238E27FC236}">
                  <a16:creationId xmlns:a16="http://schemas.microsoft.com/office/drawing/2014/main" id="{1A8C4C04-2BEA-0CD6-CF38-F28A561893B6}"/>
                </a:ext>
              </a:extLst>
            </p:cNvPr>
            <p:cNvSpPr/>
            <p:nvPr/>
          </p:nvSpPr>
          <p:spPr>
            <a:xfrm>
              <a:off x="7335316" y="89271"/>
              <a:ext cx="1733454" cy="1168952"/>
            </a:xfrm>
            <a:prstGeom prst="rect">
              <a:avLst/>
            </a:prstGeom>
            <a:noFill/>
            <a:ln/>
          </p:spPr>
          <p:txBody>
            <a:bodyPr wrap="square" lIns="0" tIns="0" rIns="0" bIns="0" rtlCol="0" anchor="ctr">
              <a:normAutofit/>
            </a:bodyPr>
            <a:lstStyle/>
            <a:p>
              <a:pPr algn="ctr"/>
              <a:r>
                <a:rPr lang="en-US" sz="1611" b="1" dirty="0">
                  <a:solidFill>
                    <a:srgbClr val="FFFFFF"/>
                  </a:solidFill>
                  <a:latin typeface="Arial" pitchFamily="34" charset="0"/>
                  <a:ea typeface="Arial" pitchFamily="34" charset="-122"/>
                  <a:cs typeface="Arial" pitchFamily="34" charset="-120"/>
                </a:rPr>
                <a:t>Standard</a:t>
              </a:r>
              <a:endParaRPr lang="en-US" sz="1611" dirty="0"/>
            </a:p>
            <a:p>
              <a:pPr algn="ctr"/>
              <a:r>
                <a:rPr lang="en-US" sz="1611" b="1" dirty="0">
                  <a:solidFill>
                    <a:srgbClr val="FFFFFF"/>
                  </a:solidFill>
                  <a:latin typeface="Arial" pitchFamily="34" charset="0"/>
                  <a:ea typeface="Arial" pitchFamily="34" charset="-122"/>
                  <a:cs typeface="Arial" pitchFamily="34" charset="-120"/>
                </a:rPr>
                <a:t>Deviation</a:t>
              </a:r>
              <a:endParaRPr lang="en-US" sz="1611" dirty="0"/>
            </a:p>
          </p:txBody>
        </p:sp>
        <p:sp>
          <p:nvSpPr>
            <p:cNvPr id="39" name="Shape 23">
              <a:extLst>
                <a:ext uri="{FF2B5EF4-FFF2-40B4-BE49-F238E27FC236}">
                  <a16:creationId xmlns:a16="http://schemas.microsoft.com/office/drawing/2014/main" id="{0A8FC7EF-B368-8738-A910-825CF1C4A26B}"/>
                </a:ext>
              </a:extLst>
            </p:cNvPr>
            <p:cNvSpPr/>
            <p:nvPr/>
          </p:nvSpPr>
          <p:spPr>
            <a:xfrm>
              <a:off x="3136746" y="1271614"/>
              <a:ext cx="1546433" cy="2187886"/>
            </a:xfrm>
            <a:prstGeom prst="rect">
              <a:avLst/>
            </a:prstGeom>
            <a:solidFill>
              <a:srgbClr val="FFFFFF"/>
            </a:solidFill>
            <a:ln w="12700">
              <a:solidFill>
                <a:srgbClr val="FFFFFF">
                  <a:alpha val="0"/>
                </a:srgbClr>
              </a:solidFill>
              <a:prstDash val="solid"/>
            </a:ln>
          </p:spPr>
          <p:txBody>
            <a:bodyPr/>
            <a:lstStyle/>
            <a:p>
              <a:endParaRPr lang="en-IN" sz="1757"/>
            </a:p>
          </p:txBody>
        </p:sp>
        <p:sp>
          <p:nvSpPr>
            <p:cNvPr id="40" name="Text 24">
              <a:extLst>
                <a:ext uri="{FF2B5EF4-FFF2-40B4-BE49-F238E27FC236}">
                  <a16:creationId xmlns:a16="http://schemas.microsoft.com/office/drawing/2014/main" id="{6AFEB1BA-3EB3-FA16-CC16-A471BCE0290F}"/>
                </a:ext>
              </a:extLst>
            </p:cNvPr>
            <p:cNvSpPr/>
            <p:nvPr/>
          </p:nvSpPr>
          <p:spPr>
            <a:xfrm>
              <a:off x="3284043" y="1338567"/>
              <a:ext cx="1332183" cy="2062907"/>
            </a:xfrm>
            <a:prstGeom prst="rect">
              <a:avLst/>
            </a:prstGeom>
            <a:noFill/>
            <a:ln/>
          </p:spPr>
          <p:txBody>
            <a:bodyPr wrap="square" lIns="0" tIns="0" rIns="0" bIns="0" rtlCol="0" anchor="ctr">
              <a:normAutofit/>
            </a:bodyPr>
            <a:lstStyle/>
            <a:p>
              <a:r>
                <a:rPr lang="en-US" sz="1611" dirty="0">
                  <a:solidFill>
                    <a:srgbClr val="111111"/>
                  </a:solidFill>
                  <a:latin typeface="Arial" pitchFamily="34" charset="0"/>
                  <a:ea typeface="Arial" pitchFamily="34" charset="-122"/>
                  <a:cs typeface="Arial" pitchFamily="34" charset="-120"/>
                </a:rPr>
                <a:t>Fare</a:t>
              </a:r>
              <a:endParaRPr lang="en-US" sz="1611" dirty="0"/>
            </a:p>
            <a:p>
              <a:r>
                <a:rPr lang="en-US" sz="1611" dirty="0">
                  <a:solidFill>
                    <a:srgbClr val="111111"/>
                  </a:solidFill>
                  <a:latin typeface="Arial" pitchFamily="34" charset="0"/>
                  <a:ea typeface="Arial" pitchFamily="34" charset="-122"/>
                  <a:cs typeface="Arial" pitchFamily="34" charset="-120"/>
                </a:rPr>
                <a:t>amount</a:t>
              </a:r>
              <a:endParaRPr lang="en-US" sz="1611" dirty="0"/>
            </a:p>
          </p:txBody>
        </p:sp>
        <p:sp>
          <p:nvSpPr>
            <p:cNvPr id="41" name="Shape 25">
              <a:extLst>
                <a:ext uri="{FF2B5EF4-FFF2-40B4-BE49-F238E27FC236}">
                  <a16:creationId xmlns:a16="http://schemas.microsoft.com/office/drawing/2014/main" id="{E676B7BD-A676-98D2-9BD4-8BFF7488149A}"/>
                </a:ext>
              </a:extLst>
            </p:cNvPr>
            <p:cNvSpPr/>
            <p:nvPr/>
          </p:nvSpPr>
          <p:spPr>
            <a:xfrm>
              <a:off x="3136746" y="3468426"/>
              <a:ext cx="1546433" cy="2160078"/>
            </a:xfrm>
            <a:prstGeom prst="rect">
              <a:avLst/>
            </a:prstGeom>
            <a:solidFill>
              <a:srgbClr val="FFFFFF"/>
            </a:solidFill>
            <a:ln w="12700">
              <a:solidFill>
                <a:srgbClr val="FFFFFF">
                  <a:alpha val="0"/>
                </a:srgbClr>
              </a:solidFill>
              <a:prstDash val="solid"/>
            </a:ln>
          </p:spPr>
          <p:txBody>
            <a:bodyPr/>
            <a:lstStyle/>
            <a:p>
              <a:endParaRPr lang="en-IN" sz="1757"/>
            </a:p>
          </p:txBody>
        </p:sp>
        <p:sp>
          <p:nvSpPr>
            <p:cNvPr id="42" name="Text 26">
              <a:extLst>
                <a:ext uri="{FF2B5EF4-FFF2-40B4-BE49-F238E27FC236}">
                  <a16:creationId xmlns:a16="http://schemas.microsoft.com/office/drawing/2014/main" id="{531C6EFC-2BAF-1BFD-CA1D-BF01C152EE7F}"/>
                </a:ext>
              </a:extLst>
            </p:cNvPr>
            <p:cNvSpPr/>
            <p:nvPr/>
          </p:nvSpPr>
          <p:spPr>
            <a:xfrm>
              <a:off x="3284043" y="3535379"/>
              <a:ext cx="1332183" cy="2035100"/>
            </a:xfrm>
            <a:prstGeom prst="rect">
              <a:avLst/>
            </a:prstGeom>
            <a:noFill/>
            <a:ln/>
          </p:spPr>
          <p:txBody>
            <a:bodyPr wrap="square" lIns="0" tIns="0" rIns="0" bIns="0" rtlCol="0" anchor="ctr">
              <a:normAutofit/>
            </a:bodyPr>
            <a:lstStyle/>
            <a:p>
              <a:r>
                <a:rPr lang="en-US" sz="1611" dirty="0">
                  <a:solidFill>
                    <a:srgbClr val="111111"/>
                  </a:solidFill>
                  <a:latin typeface="Arial" pitchFamily="34" charset="0"/>
                  <a:ea typeface="Arial" pitchFamily="34" charset="-122"/>
                  <a:cs typeface="Arial" pitchFamily="34" charset="-120"/>
                </a:rPr>
                <a:t>Trip</a:t>
              </a:r>
              <a:endParaRPr lang="en-US" sz="1611" dirty="0"/>
            </a:p>
            <a:p>
              <a:r>
                <a:rPr lang="en-US" sz="1611" dirty="0">
                  <a:solidFill>
                    <a:srgbClr val="111111"/>
                  </a:solidFill>
                  <a:latin typeface="Arial" pitchFamily="34" charset="0"/>
                  <a:ea typeface="Arial" pitchFamily="34" charset="-122"/>
                  <a:cs typeface="Arial" pitchFamily="34" charset="-120"/>
                </a:rPr>
                <a:t>Distance</a:t>
              </a:r>
              <a:endParaRPr lang="en-US" sz="1611" dirty="0"/>
            </a:p>
          </p:txBody>
        </p:sp>
        <p:sp>
          <p:nvSpPr>
            <p:cNvPr id="43" name="Text 27">
              <a:extLst>
                <a:ext uri="{FF2B5EF4-FFF2-40B4-BE49-F238E27FC236}">
                  <a16:creationId xmlns:a16="http://schemas.microsoft.com/office/drawing/2014/main" id="{EE6D492F-E753-5EAD-5165-79AEB9ED05D2}"/>
                </a:ext>
              </a:extLst>
            </p:cNvPr>
            <p:cNvSpPr/>
            <p:nvPr/>
          </p:nvSpPr>
          <p:spPr>
            <a:xfrm>
              <a:off x="4759059" y="1267151"/>
              <a:ext cx="1394718" cy="1195733"/>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Card</a:t>
              </a:r>
              <a:endParaRPr lang="en-US" sz="1591" dirty="0"/>
            </a:p>
          </p:txBody>
        </p:sp>
        <p:sp>
          <p:nvSpPr>
            <p:cNvPr id="44" name="Text 28">
              <a:extLst>
                <a:ext uri="{FF2B5EF4-FFF2-40B4-BE49-F238E27FC236}">
                  <a16:creationId xmlns:a16="http://schemas.microsoft.com/office/drawing/2014/main" id="{405E11CE-5DEF-9C68-7139-D7D059387CDA}"/>
                </a:ext>
              </a:extLst>
            </p:cNvPr>
            <p:cNvSpPr/>
            <p:nvPr/>
          </p:nvSpPr>
          <p:spPr>
            <a:xfrm>
              <a:off x="6314463" y="1267151"/>
              <a:ext cx="949436" cy="1195733"/>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13.7</a:t>
              </a:r>
              <a:endParaRPr lang="en-US" sz="1591" dirty="0"/>
            </a:p>
          </p:txBody>
        </p:sp>
        <p:sp>
          <p:nvSpPr>
            <p:cNvPr id="45" name="Text 29">
              <a:extLst>
                <a:ext uri="{FF2B5EF4-FFF2-40B4-BE49-F238E27FC236}">
                  <a16:creationId xmlns:a16="http://schemas.microsoft.com/office/drawing/2014/main" id="{8D76E024-3145-F1BC-67F5-F53B425B71BE}"/>
                </a:ext>
              </a:extLst>
            </p:cNvPr>
            <p:cNvSpPr/>
            <p:nvPr/>
          </p:nvSpPr>
          <p:spPr>
            <a:xfrm>
              <a:off x="7424586" y="1267151"/>
              <a:ext cx="1572768" cy="1195733"/>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6.5</a:t>
              </a:r>
              <a:endParaRPr lang="en-US" sz="1591" dirty="0"/>
            </a:p>
          </p:txBody>
        </p:sp>
        <p:sp>
          <p:nvSpPr>
            <p:cNvPr id="46" name="Text 30">
              <a:extLst>
                <a:ext uri="{FF2B5EF4-FFF2-40B4-BE49-F238E27FC236}">
                  <a16:creationId xmlns:a16="http://schemas.microsoft.com/office/drawing/2014/main" id="{79BDFB03-1F1B-0142-1C8B-A9A096961DAE}"/>
                </a:ext>
              </a:extLst>
            </p:cNvPr>
            <p:cNvSpPr/>
            <p:nvPr/>
          </p:nvSpPr>
          <p:spPr>
            <a:xfrm>
              <a:off x="4759059" y="2462883"/>
              <a:ext cx="1394718" cy="1001079"/>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Cash</a:t>
              </a:r>
              <a:endParaRPr lang="en-US" sz="1591" dirty="0"/>
            </a:p>
          </p:txBody>
        </p:sp>
        <p:sp>
          <p:nvSpPr>
            <p:cNvPr id="47" name="Text 31">
              <a:extLst>
                <a:ext uri="{FF2B5EF4-FFF2-40B4-BE49-F238E27FC236}">
                  <a16:creationId xmlns:a16="http://schemas.microsoft.com/office/drawing/2014/main" id="{D94F9BB1-AE2F-3212-6FA5-6B40DF270378}"/>
                </a:ext>
              </a:extLst>
            </p:cNvPr>
            <p:cNvSpPr/>
            <p:nvPr/>
          </p:nvSpPr>
          <p:spPr>
            <a:xfrm>
              <a:off x="6314463" y="2462883"/>
              <a:ext cx="949436" cy="1001079"/>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12.25</a:t>
              </a:r>
              <a:endParaRPr lang="en-US" sz="1591" dirty="0"/>
            </a:p>
          </p:txBody>
        </p:sp>
        <p:sp>
          <p:nvSpPr>
            <p:cNvPr id="48" name="Text 32">
              <a:extLst>
                <a:ext uri="{FF2B5EF4-FFF2-40B4-BE49-F238E27FC236}">
                  <a16:creationId xmlns:a16="http://schemas.microsoft.com/office/drawing/2014/main" id="{C44CD0DC-49AF-71F4-BDC3-0D175F39F59A}"/>
                </a:ext>
              </a:extLst>
            </p:cNvPr>
            <p:cNvSpPr/>
            <p:nvPr/>
          </p:nvSpPr>
          <p:spPr>
            <a:xfrm>
              <a:off x="7424586" y="2462883"/>
              <a:ext cx="1572768" cy="1001079"/>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6.2</a:t>
              </a:r>
              <a:endParaRPr lang="en-US" sz="1591" dirty="0"/>
            </a:p>
          </p:txBody>
        </p:sp>
        <p:sp>
          <p:nvSpPr>
            <p:cNvPr id="49" name="Text 33">
              <a:extLst>
                <a:ext uri="{FF2B5EF4-FFF2-40B4-BE49-F238E27FC236}">
                  <a16:creationId xmlns:a16="http://schemas.microsoft.com/office/drawing/2014/main" id="{434E19AA-505C-A123-10A6-2080075DB3BE}"/>
                </a:ext>
              </a:extLst>
            </p:cNvPr>
            <p:cNvSpPr/>
            <p:nvPr/>
          </p:nvSpPr>
          <p:spPr>
            <a:xfrm>
              <a:off x="4759059" y="3463963"/>
              <a:ext cx="1394718" cy="1145680"/>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Card</a:t>
              </a:r>
              <a:endParaRPr lang="en-US" sz="1591" dirty="0"/>
            </a:p>
          </p:txBody>
        </p:sp>
        <p:sp>
          <p:nvSpPr>
            <p:cNvPr id="50" name="Text 34">
              <a:extLst>
                <a:ext uri="{FF2B5EF4-FFF2-40B4-BE49-F238E27FC236}">
                  <a16:creationId xmlns:a16="http://schemas.microsoft.com/office/drawing/2014/main" id="{126176DA-2C3D-149A-A548-32EE033DDF91}"/>
                </a:ext>
              </a:extLst>
            </p:cNvPr>
            <p:cNvSpPr/>
            <p:nvPr/>
          </p:nvSpPr>
          <p:spPr>
            <a:xfrm>
              <a:off x="6314463" y="3463963"/>
              <a:ext cx="949436" cy="1145680"/>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3.23</a:t>
              </a:r>
              <a:endParaRPr lang="en-US" sz="1591" dirty="0"/>
            </a:p>
          </p:txBody>
        </p:sp>
        <p:sp>
          <p:nvSpPr>
            <p:cNvPr id="51" name="Text 35">
              <a:extLst>
                <a:ext uri="{FF2B5EF4-FFF2-40B4-BE49-F238E27FC236}">
                  <a16:creationId xmlns:a16="http://schemas.microsoft.com/office/drawing/2014/main" id="{091741A7-3AAD-3D63-44D1-4709A8292A9D}"/>
                </a:ext>
              </a:extLst>
            </p:cNvPr>
            <p:cNvSpPr/>
            <p:nvPr/>
          </p:nvSpPr>
          <p:spPr>
            <a:xfrm>
              <a:off x="7424586" y="3463963"/>
              <a:ext cx="1572768" cy="1145680"/>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2.32</a:t>
              </a:r>
              <a:endParaRPr lang="en-US" sz="1591" dirty="0"/>
            </a:p>
          </p:txBody>
        </p:sp>
        <p:sp>
          <p:nvSpPr>
            <p:cNvPr id="52" name="Text 36">
              <a:extLst>
                <a:ext uri="{FF2B5EF4-FFF2-40B4-BE49-F238E27FC236}">
                  <a16:creationId xmlns:a16="http://schemas.microsoft.com/office/drawing/2014/main" id="{7EE56D28-39E2-B8FB-5711-A6CA11E25DA7}"/>
                </a:ext>
              </a:extLst>
            </p:cNvPr>
            <p:cNvSpPr/>
            <p:nvPr/>
          </p:nvSpPr>
          <p:spPr>
            <a:xfrm>
              <a:off x="4759059" y="4609643"/>
              <a:ext cx="1394718" cy="1023325"/>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Cash</a:t>
              </a:r>
              <a:endParaRPr lang="en-US" sz="1591" dirty="0"/>
            </a:p>
          </p:txBody>
        </p:sp>
        <p:sp>
          <p:nvSpPr>
            <p:cNvPr id="53" name="Text 37">
              <a:extLst>
                <a:ext uri="{FF2B5EF4-FFF2-40B4-BE49-F238E27FC236}">
                  <a16:creationId xmlns:a16="http://schemas.microsoft.com/office/drawing/2014/main" id="{008A5186-4BD6-1736-682F-BF3742CA5B96}"/>
                </a:ext>
              </a:extLst>
            </p:cNvPr>
            <p:cNvSpPr/>
            <p:nvPr/>
          </p:nvSpPr>
          <p:spPr>
            <a:xfrm>
              <a:off x="6314463" y="4609643"/>
              <a:ext cx="949436" cy="1023325"/>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2.8</a:t>
              </a:r>
              <a:endParaRPr lang="en-US" sz="1591" dirty="0"/>
            </a:p>
          </p:txBody>
        </p:sp>
        <p:sp>
          <p:nvSpPr>
            <p:cNvPr id="54" name="Text 38">
              <a:extLst>
                <a:ext uri="{FF2B5EF4-FFF2-40B4-BE49-F238E27FC236}">
                  <a16:creationId xmlns:a16="http://schemas.microsoft.com/office/drawing/2014/main" id="{82BC215A-099C-EA6A-2BB3-DEB496204A7D}"/>
                </a:ext>
              </a:extLst>
            </p:cNvPr>
            <p:cNvSpPr/>
            <p:nvPr/>
          </p:nvSpPr>
          <p:spPr>
            <a:xfrm>
              <a:off x="7424586" y="4609643"/>
              <a:ext cx="1572768" cy="1023325"/>
            </a:xfrm>
            <a:prstGeom prst="rect">
              <a:avLst/>
            </a:prstGeom>
            <a:noFill/>
            <a:ln/>
          </p:spPr>
          <p:txBody>
            <a:bodyPr wrap="square" lIns="0" tIns="0" rIns="0" bIns="0" rtlCol="0" anchor="ctr">
              <a:normAutofit/>
            </a:bodyPr>
            <a:lstStyle/>
            <a:p>
              <a:r>
                <a:rPr lang="en-US" sz="1591" dirty="0">
                  <a:solidFill>
                    <a:srgbClr val="111111"/>
                  </a:solidFill>
                  <a:latin typeface="Arial" pitchFamily="34" charset="0"/>
                  <a:ea typeface="Arial" pitchFamily="34" charset="-122"/>
                  <a:cs typeface="Arial" pitchFamily="34" charset="-120"/>
                </a:rPr>
                <a:t>2.23</a:t>
              </a:r>
              <a:endParaRPr lang="en-US" sz="1591" dirty="0"/>
            </a:p>
          </p:txBody>
        </p:sp>
        <p:sp>
          <p:nvSpPr>
            <p:cNvPr id="55" name="Shape 39">
              <a:extLst>
                <a:ext uri="{FF2B5EF4-FFF2-40B4-BE49-F238E27FC236}">
                  <a16:creationId xmlns:a16="http://schemas.microsoft.com/office/drawing/2014/main" id="{34DEDC3F-6DFD-0B02-32E5-136A445877A3}"/>
                </a:ext>
              </a:extLst>
            </p:cNvPr>
            <p:cNvSpPr/>
            <p:nvPr/>
          </p:nvSpPr>
          <p:spPr>
            <a:xfrm>
              <a:off x="3132283" y="71417"/>
              <a:ext cx="5936487" cy="5561552"/>
            </a:xfrm>
            <a:prstGeom prst="rect">
              <a:avLst/>
            </a:prstGeom>
            <a:solidFill>
              <a:srgbClr val="FFFFFF">
                <a:alpha val="0"/>
              </a:srgbClr>
            </a:solidFill>
            <a:ln w="15240">
              <a:solidFill>
                <a:srgbClr val="4B4B4B"/>
              </a:solidFill>
              <a:prstDash val="solid"/>
            </a:ln>
          </p:spPr>
          <p:txBody>
            <a:bodyPr/>
            <a:lstStyle/>
            <a:p>
              <a:endParaRPr lang="en-IN" sz="1757"/>
            </a:p>
          </p:txBody>
        </p:sp>
        <p:sp>
          <p:nvSpPr>
            <p:cNvPr id="56" name="Shape 40">
              <a:extLst>
                <a:ext uri="{FF2B5EF4-FFF2-40B4-BE49-F238E27FC236}">
                  <a16:creationId xmlns:a16="http://schemas.microsoft.com/office/drawing/2014/main" id="{7ED06483-BCF5-36E1-F746-3D8BE4914F47}"/>
                </a:ext>
              </a:extLst>
            </p:cNvPr>
            <p:cNvSpPr/>
            <p:nvPr/>
          </p:nvSpPr>
          <p:spPr>
            <a:xfrm>
              <a:off x="4687642" y="71417"/>
              <a:ext cx="0" cy="5561551"/>
            </a:xfrm>
            <a:prstGeom prst="line">
              <a:avLst/>
            </a:prstGeom>
            <a:noFill/>
            <a:ln w="12700">
              <a:solidFill>
                <a:srgbClr val="4B4B4B"/>
              </a:solidFill>
              <a:prstDash val="solid"/>
            </a:ln>
          </p:spPr>
          <p:txBody>
            <a:bodyPr/>
            <a:lstStyle/>
            <a:p>
              <a:endParaRPr lang="en-IN" sz="1757"/>
            </a:p>
          </p:txBody>
        </p:sp>
        <p:sp>
          <p:nvSpPr>
            <p:cNvPr id="57" name="Shape 41">
              <a:extLst>
                <a:ext uri="{FF2B5EF4-FFF2-40B4-BE49-F238E27FC236}">
                  <a16:creationId xmlns:a16="http://schemas.microsoft.com/office/drawing/2014/main" id="{1A8EB875-7EF0-30A6-E530-DCAC0844CB5F}"/>
                </a:ext>
              </a:extLst>
            </p:cNvPr>
            <p:cNvSpPr/>
            <p:nvPr/>
          </p:nvSpPr>
          <p:spPr>
            <a:xfrm>
              <a:off x="6225192" y="71417"/>
              <a:ext cx="0" cy="5561551"/>
            </a:xfrm>
            <a:prstGeom prst="line">
              <a:avLst/>
            </a:prstGeom>
            <a:noFill/>
            <a:ln w="12700">
              <a:solidFill>
                <a:srgbClr val="4B4B4B"/>
              </a:solidFill>
              <a:prstDash val="solid"/>
            </a:ln>
          </p:spPr>
          <p:txBody>
            <a:bodyPr/>
            <a:lstStyle/>
            <a:p>
              <a:endParaRPr lang="en-IN" sz="1757"/>
            </a:p>
          </p:txBody>
        </p:sp>
        <p:sp>
          <p:nvSpPr>
            <p:cNvPr id="58" name="Shape 42">
              <a:extLst>
                <a:ext uri="{FF2B5EF4-FFF2-40B4-BE49-F238E27FC236}">
                  <a16:creationId xmlns:a16="http://schemas.microsoft.com/office/drawing/2014/main" id="{3A674929-CAED-8E76-290A-10CD1B615E1C}"/>
                </a:ext>
              </a:extLst>
            </p:cNvPr>
            <p:cNvSpPr/>
            <p:nvPr/>
          </p:nvSpPr>
          <p:spPr>
            <a:xfrm>
              <a:off x="7335315" y="71417"/>
              <a:ext cx="0" cy="5561551"/>
            </a:xfrm>
            <a:prstGeom prst="line">
              <a:avLst/>
            </a:prstGeom>
            <a:noFill/>
            <a:ln w="12700">
              <a:solidFill>
                <a:srgbClr val="4B4B4B"/>
              </a:solidFill>
              <a:prstDash val="solid"/>
            </a:ln>
          </p:spPr>
          <p:txBody>
            <a:bodyPr/>
            <a:lstStyle/>
            <a:p>
              <a:endParaRPr lang="en-IN" sz="1757"/>
            </a:p>
          </p:txBody>
        </p:sp>
        <p:sp>
          <p:nvSpPr>
            <p:cNvPr id="59" name="Shape 43">
              <a:extLst>
                <a:ext uri="{FF2B5EF4-FFF2-40B4-BE49-F238E27FC236}">
                  <a16:creationId xmlns:a16="http://schemas.microsoft.com/office/drawing/2014/main" id="{DE71682E-5D88-C1E4-A8B0-2461ED5FF0C4}"/>
                </a:ext>
              </a:extLst>
            </p:cNvPr>
            <p:cNvSpPr/>
            <p:nvPr/>
          </p:nvSpPr>
          <p:spPr>
            <a:xfrm>
              <a:off x="3132283" y="1267150"/>
              <a:ext cx="5936487" cy="0"/>
            </a:xfrm>
            <a:prstGeom prst="line">
              <a:avLst/>
            </a:prstGeom>
            <a:noFill/>
            <a:ln w="12700">
              <a:solidFill>
                <a:srgbClr val="4B4B4B"/>
              </a:solidFill>
              <a:prstDash val="solid"/>
            </a:ln>
          </p:spPr>
          <p:txBody>
            <a:bodyPr/>
            <a:lstStyle/>
            <a:p>
              <a:endParaRPr lang="en-IN" sz="1757"/>
            </a:p>
          </p:txBody>
        </p:sp>
        <p:sp>
          <p:nvSpPr>
            <p:cNvPr id="60" name="Shape 44">
              <a:extLst>
                <a:ext uri="{FF2B5EF4-FFF2-40B4-BE49-F238E27FC236}">
                  <a16:creationId xmlns:a16="http://schemas.microsoft.com/office/drawing/2014/main" id="{D8646FB2-7472-C25C-064F-301F9B01E176}"/>
                </a:ext>
              </a:extLst>
            </p:cNvPr>
            <p:cNvSpPr/>
            <p:nvPr/>
          </p:nvSpPr>
          <p:spPr>
            <a:xfrm>
              <a:off x="3132283" y="3463962"/>
              <a:ext cx="5936487" cy="0"/>
            </a:xfrm>
            <a:prstGeom prst="line">
              <a:avLst/>
            </a:prstGeom>
            <a:noFill/>
            <a:ln w="12700">
              <a:solidFill>
                <a:srgbClr val="4B4B4B"/>
              </a:solidFill>
              <a:prstDash val="solid"/>
            </a:ln>
          </p:spPr>
          <p:txBody>
            <a:bodyPr/>
            <a:lstStyle/>
            <a:p>
              <a:endParaRPr lang="en-IN" sz="1757"/>
            </a:p>
          </p:txBody>
        </p:sp>
        <p:sp>
          <p:nvSpPr>
            <p:cNvPr id="61" name="Shape 45">
              <a:extLst>
                <a:ext uri="{FF2B5EF4-FFF2-40B4-BE49-F238E27FC236}">
                  <a16:creationId xmlns:a16="http://schemas.microsoft.com/office/drawing/2014/main" id="{BB28985D-C31B-0B96-7192-029566DE3660}"/>
                </a:ext>
              </a:extLst>
            </p:cNvPr>
            <p:cNvSpPr/>
            <p:nvPr/>
          </p:nvSpPr>
          <p:spPr>
            <a:xfrm>
              <a:off x="3132283" y="5632968"/>
              <a:ext cx="5936487" cy="0"/>
            </a:xfrm>
            <a:prstGeom prst="line">
              <a:avLst/>
            </a:prstGeom>
            <a:noFill/>
            <a:ln w="12700">
              <a:solidFill>
                <a:srgbClr val="4B4B4B"/>
              </a:solidFill>
              <a:prstDash val="solid"/>
            </a:ln>
          </p:spPr>
          <p:txBody>
            <a:bodyPr/>
            <a:lstStyle/>
            <a:p>
              <a:endParaRPr lang="en-IN" sz="1757"/>
            </a:p>
          </p:txBody>
        </p:sp>
        <p:sp>
          <p:nvSpPr>
            <p:cNvPr id="62" name="Shape 46">
              <a:extLst>
                <a:ext uri="{FF2B5EF4-FFF2-40B4-BE49-F238E27FC236}">
                  <a16:creationId xmlns:a16="http://schemas.microsoft.com/office/drawing/2014/main" id="{3957844C-6275-2610-5D5C-94F671DF6F86}"/>
                </a:ext>
              </a:extLst>
            </p:cNvPr>
            <p:cNvSpPr/>
            <p:nvPr/>
          </p:nvSpPr>
          <p:spPr>
            <a:xfrm>
              <a:off x="4687642" y="2462883"/>
              <a:ext cx="4381128" cy="0"/>
            </a:xfrm>
            <a:prstGeom prst="line">
              <a:avLst/>
            </a:prstGeom>
            <a:noFill/>
            <a:ln w="12700">
              <a:solidFill>
                <a:srgbClr val="4B4B4B"/>
              </a:solidFill>
              <a:prstDash val="solid"/>
            </a:ln>
          </p:spPr>
          <p:txBody>
            <a:bodyPr/>
            <a:lstStyle/>
            <a:p>
              <a:endParaRPr lang="en-IN" sz="1757"/>
            </a:p>
          </p:txBody>
        </p:sp>
        <p:sp>
          <p:nvSpPr>
            <p:cNvPr id="63" name="Shape 47">
              <a:extLst>
                <a:ext uri="{FF2B5EF4-FFF2-40B4-BE49-F238E27FC236}">
                  <a16:creationId xmlns:a16="http://schemas.microsoft.com/office/drawing/2014/main" id="{B7A78020-6C1D-2792-918C-6827B2B83B9C}"/>
                </a:ext>
              </a:extLst>
            </p:cNvPr>
            <p:cNvSpPr/>
            <p:nvPr/>
          </p:nvSpPr>
          <p:spPr>
            <a:xfrm>
              <a:off x="4687642" y="4609642"/>
              <a:ext cx="4381128" cy="0"/>
            </a:xfrm>
            <a:prstGeom prst="line">
              <a:avLst/>
            </a:prstGeom>
            <a:noFill/>
            <a:ln w="12700">
              <a:solidFill>
                <a:srgbClr val="4B4B4B"/>
              </a:solidFill>
              <a:prstDash val="solid"/>
            </a:ln>
          </p:spPr>
          <p:txBody>
            <a:bodyPr/>
            <a:lstStyle/>
            <a:p>
              <a:endParaRPr lang="en-IN" sz="1757"/>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90824" y="769182"/>
            <a:ext cx="5655452" cy="1081835"/>
          </a:xfrm>
          <a:prstGeom prst="rect">
            <a:avLst/>
          </a:prstGeom>
          <a:noFill/>
        </p:spPr>
        <p:txBody>
          <a:bodyPr wrap="square" lIns="0" tIns="0" rIns="0" bIns="0">
            <a:spAutoFit/>
          </a:bodyPr>
          <a:lstStyle/>
          <a:p>
            <a:pPr algn="l"/>
            <a:r>
              <a:rPr sz="3515" b="1" dirty="0">
                <a:solidFill>
                  <a:srgbClr val="000000"/>
                </a:solidFill>
                <a:latin typeface="Arial"/>
              </a:rPr>
              <a:t>Preference of</a:t>
            </a:r>
            <a:r>
              <a:rPr lang="en-US" sz="3515" b="1" dirty="0">
                <a:solidFill>
                  <a:srgbClr val="000000"/>
                </a:solidFill>
                <a:latin typeface="Arial"/>
              </a:rPr>
              <a:t> </a:t>
            </a:r>
            <a:r>
              <a:rPr sz="3515" b="1" dirty="0">
                <a:solidFill>
                  <a:srgbClr val="000000"/>
                </a:solidFill>
                <a:latin typeface="Arial"/>
              </a:rPr>
              <a:t>Payment Types</a:t>
            </a:r>
          </a:p>
        </p:txBody>
      </p:sp>
      <p:sp>
        <p:nvSpPr>
          <p:cNvPr id="5" name="Rectangle 4"/>
          <p:cNvSpPr/>
          <p:nvPr/>
        </p:nvSpPr>
        <p:spPr>
          <a:xfrm>
            <a:off x="5790824" y="1986485"/>
            <a:ext cx="3920866" cy="14462"/>
          </a:xfrm>
          <a:prstGeom prst="rect">
            <a:avLst/>
          </a:prstGeom>
          <a:solidFill>
            <a:srgbClr val="AE7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82"/>
          </a:p>
        </p:txBody>
      </p:sp>
      <p:sp>
        <p:nvSpPr>
          <p:cNvPr id="6" name="TextBox 5"/>
          <p:cNvSpPr txBox="1"/>
          <p:nvPr/>
        </p:nvSpPr>
        <p:spPr>
          <a:xfrm>
            <a:off x="5790824" y="2271882"/>
            <a:ext cx="4860909" cy="1027974"/>
          </a:xfrm>
          <a:prstGeom prst="rect">
            <a:avLst/>
          </a:prstGeom>
          <a:noFill/>
        </p:spPr>
        <p:txBody>
          <a:bodyPr wrap="square" lIns="0" tIns="0" rIns="0" bIns="0" anchor="t">
            <a:spAutoFit/>
          </a:bodyPr>
          <a:lstStyle/>
          <a:p>
            <a:pPr algn="l"/>
            <a:r>
              <a:rPr sz="1670" dirty="0">
                <a:solidFill>
                  <a:srgbClr val="000000"/>
                </a:solidFill>
                <a:latin typeface="Arial"/>
              </a:rPr>
              <a:t>• The proportion of customers paying with cards is significantly higher than those paying with cash, with card payments accounting for 67.5% of all transactions compared to cash payments at 32.5%.</a:t>
            </a:r>
          </a:p>
        </p:txBody>
      </p:sp>
      <p:sp>
        <p:nvSpPr>
          <p:cNvPr id="7" name="TextBox 6"/>
          <p:cNvSpPr txBox="1"/>
          <p:nvPr/>
        </p:nvSpPr>
        <p:spPr>
          <a:xfrm>
            <a:off x="5790825" y="3549303"/>
            <a:ext cx="4860909" cy="1027974"/>
          </a:xfrm>
          <a:prstGeom prst="rect">
            <a:avLst/>
          </a:prstGeom>
          <a:noFill/>
        </p:spPr>
        <p:txBody>
          <a:bodyPr wrap="square" lIns="0" tIns="0" rIns="0" bIns="0" anchor="t">
            <a:spAutoFit/>
          </a:bodyPr>
          <a:lstStyle/>
          <a:p>
            <a:pPr algn="l"/>
            <a:r>
              <a:rPr sz="1670" dirty="0">
                <a:solidFill>
                  <a:srgbClr val="000000"/>
                </a:solidFill>
                <a:latin typeface="Arial"/>
              </a:rPr>
              <a:t>• This indicates a strong preference among customers for using card payments over cash, potentially due to convenience, security, or incentives offered for card transactions.</a:t>
            </a:r>
          </a:p>
        </p:txBody>
      </p:sp>
      <p:sp>
        <p:nvSpPr>
          <p:cNvPr id="9" name="TextBox 8"/>
          <p:cNvSpPr txBox="1"/>
          <p:nvPr/>
        </p:nvSpPr>
        <p:spPr>
          <a:xfrm>
            <a:off x="201168" y="13716"/>
            <a:ext cx="4572000" cy="164592"/>
          </a:xfrm>
          <a:prstGeom prst="rect">
            <a:avLst/>
          </a:prstGeom>
          <a:noFill/>
        </p:spPr>
        <p:txBody>
          <a:bodyPr wrap="none" lIns="0" tIns="0" rIns="0" bIns="0">
            <a:spAutoFit/>
          </a:bodyPr>
          <a:lstStyle/>
          <a:p>
            <a:pPr algn="l"/>
            <a:r>
              <a:rPr sz="650" b="1">
                <a:solidFill>
                  <a:srgbClr val="787878"/>
                </a:solidFill>
                <a:latin typeface="Arial"/>
              </a:rPr>
              <a:t>MAXIMIZING REVENUE FOR DRIVERS</a:t>
            </a:r>
          </a:p>
        </p:txBody>
      </p:sp>
      <p:sp>
        <p:nvSpPr>
          <p:cNvPr id="10" name="Rectangle 9"/>
          <p:cNvSpPr/>
          <p:nvPr/>
        </p:nvSpPr>
        <p:spPr>
          <a:xfrm>
            <a:off x="201168" y="187452"/>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3" name="TextBox 12"/>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8</a:t>
            </a:r>
          </a:p>
        </p:txBody>
      </p:sp>
      <p:sp>
        <p:nvSpPr>
          <p:cNvPr id="14" name="Rectangle 13"/>
          <p:cNvSpPr/>
          <p:nvPr/>
        </p:nvSpPr>
        <p:spPr>
          <a:xfrm>
            <a:off x="749808" y="813816"/>
            <a:ext cx="4215384" cy="4023360"/>
          </a:xfrm>
          <a:prstGeom prst="rect">
            <a:avLst/>
          </a:prstGeom>
          <a:solidFill>
            <a:srgbClr val="FAFAFA"/>
          </a:solidFill>
          <a:ln w="1016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i="1">
                <a:solidFill>
                  <a:srgbClr val="A5A5A5"/>
                </a:solidFill>
                <a:latin typeface="Arial"/>
              </a:rPr>
              <a:t>Chart area — add chart later</a:t>
            </a:r>
          </a:p>
        </p:txBody>
      </p:sp>
      <p:graphicFrame>
        <p:nvGraphicFramePr>
          <p:cNvPr id="15" name="Chart 14">
            <a:extLst>
              <a:ext uri="{FF2B5EF4-FFF2-40B4-BE49-F238E27FC236}">
                <a16:creationId xmlns:a16="http://schemas.microsoft.com/office/drawing/2014/main" id="{C9161290-7DFE-064F-98BC-F866B15AC75D}"/>
              </a:ext>
            </a:extLst>
          </p:cNvPr>
          <p:cNvGraphicFramePr>
            <a:graphicFrameLocks noGrp="1"/>
          </p:cNvGraphicFramePr>
          <p:nvPr>
            <p:extLst>
              <p:ext uri="{D42A27DB-BD31-4B8C-83A1-F6EECF244321}">
                <p14:modId xmlns:p14="http://schemas.microsoft.com/office/powerpoint/2010/main" val="2339171534"/>
              </p:ext>
            </p:extLst>
          </p:nvPr>
        </p:nvGraphicFramePr>
        <p:xfrm>
          <a:off x="985421" y="982025"/>
          <a:ext cx="3787747" cy="369650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683580" y="248717"/>
            <a:ext cx="6500241" cy="620491"/>
          </a:xfrm>
          <a:prstGeom prst="rect">
            <a:avLst/>
          </a:prstGeom>
          <a:noFill/>
        </p:spPr>
        <p:txBody>
          <a:bodyPr wrap="none" lIns="0" tIns="0" rIns="0" bIns="0" anchor="ctr">
            <a:spAutoFit/>
          </a:bodyPr>
          <a:lstStyle/>
          <a:p>
            <a:pPr algn="l"/>
            <a:r>
              <a:rPr sz="4032" b="1" dirty="0">
                <a:solidFill>
                  <a:srgbClr val="000000"/>
                </a:solidFill>
                <a:latin typeface="Arial"/>
              </a:rPr>
              <a:t>Passenger Count Analysis</a:t>
            </a:r>
          </a:p>
        </p:txBody>
      </p:sp>
      <p:sp>
        <p:nvSpPr>
          <p:cNvPr id="3" name="Rectangle 2"/>
          <p:cNvSpPr/>
          <p:nvPr/>
        </p:nvSpPr>
        <p:spPr>
          <a:xfrm>
            <a:off x="683580" y="821610"/>
            <a:ext cx="6012000" cy="13828"/>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12"/>
          </a:p>
        </p:txBody>
      </p:sp>
      <p:sp>
        <p:nvSpPr>
          <p:cNvPr id="4" name="TextBox 3"/>
          <p:cNvSpPr txBox="1"/>
          <p:nvPr/>
        </p:nvSpPr>
        <p:spPr>
          <a:xfrm>
            <a:off x="683582" y="942224"/>
            <a:ext cx="10282296" cy="461665"/>
          </a:xfrm>
          <a:prstGeom prst="rect">
            <a:avLst/>
          </a:prstGeom>
          <a:noFill/>
        </p:spPr>
        <p:txBody>
          <a:bodyPr wrap="square" lIns="0" tIns="0" rIns="0" bIns="0" anchor="t">
            <a:spAutoFit/>
          </a:bodyPr>
          <a:lstStyle/>
          <a:p>
            <a:pPr algn="l"/>
            <a:r>
              <a:rPr sz="1500" dirty="0">
                <a:solidFill>
                  <a:srgbClr val="000000"/>
                </a:solidFill>
                <a:latin typeface="Arial"/>
              </a:rPr>
              <a:t>• Among card payments, rides with a single passenger </a:t>
            </a:r>
            <a:r>
              <a:rPr sz="1500" dirty="0" err="1">
                <a:solidFill>
                  <a:srgbClr val="000000"/>
                </a:solidFill>
                <a:latin typeface="Arial"/>
              </a:rPr>
              <a:t>passenger</a:t>
            </a:r>
            <a:r>
              <a:rPr lang="en-US" sz="1500" dirty="0">
                <a:solidFill>
                  <a:srgbClr val="000000"/>
                </a:solidFill>
                <a:latin typeface="Arial"/>
              </a:rPr>
              <a:t> </a:t>
            </a:r>
            <a:r>
              <a:rPr sz="1500" dirty="0">
                <a:solidFill>
                  <a:srgbClr val="000000"/>
                </a:solidFill>
                <a:latin typeface="Arial"/>
              </a:rPr>
              <a:t>count = 1 comprise the largest proportion,
constituting 40.08% of all card transactions.</a:t>
            </a:r>
          </a:p>
        </p:txBody>
      </p:sp>
      <p:sp>
        <p:nvSpPr>
          <p:cNvPr id="5" name="TextBox 4"/>
          <p:cNvSpPr txBox="1"/>
          <p:nvPr/>
        </p:nvSpPr>
        <p:spPr>
          <a:xfrm>
            <a:off x="683582" y="1499901"/>
            <a:ext cx="9794847" cy="461665"/>
          </a:xfrm>
          <a:prstGeom prst="rect">
            <a:avLst/>
          </a:prstGeom>
          <a:noFill/>
        </p:spPr>
        <p:txBody>
          <a:bodyPr wrap="square" lIns="0" tIns="0" rIns="0" bIns="0" anchor="t">
            <a:spAutoFit/>
          </a:bodyPr>
          <a:lstStyle/>
          <a:p>
            <a:pPr algn="l"/>
            <a:r>
              <a:rPr sz="1500" dirty="0">
                <a:solidFill>
                  <a:srgbClr val="000000"/>
                </a:solidFill>
                <a:latin typeface="Arial"/>
              </a:rPr>
              <a:t>• Similarly, cash payments are predominantly associated with single-passenger rides, making up 20.04% of all
cash transactions.</a:t>
            </a:r>
          </a:p>
        </p:txBody>
      </p:sp>
      <p:sp>
        <p:nvSpPr>
          <p:cNvPr id="6" name="TextBox 5"/>
          <p:cNvSpPr txBox="1"/>
          <p:nvPr/>
        </p:nvSpPr>
        <p:spPr>
          <a:xfrm>
            <a:off x="683581" y="2004647"/>
            <a:ext cx="9794847" cy="430887"/>
          </a:xfrm>
          <a:prstGeom prst="rect">
            <a:avLst/>
          </a:prstGeom>
          <a:noFill/>
        </p:spPr>
        <p:txBody>
          <a:bodyPr wrap="square" lIns="0" tIns="0" rIns="0" bIns="0" anchor="t">
            <a:spAutoFit/>
          </a:bodyPr>
          <a:lstStyle/>
          <a:p>
            <a:pPr algn="l"/>
            <a:r>
              <a:rPr sz="1400" dirty="0">
                <a:solidFill>
                  <a:srgbClr val="000000"/>
                </a:solidFill>
                <a:latin typeface="Arial"/>
              </a:rPr>
              <a:t>• There is a noticeable decrease in the percentage of transactions as the passenger count increases, suggesting
that larger groups are less likely to use taxis or may opt for alternative payment methods.</a:t>
            </a:r>
          </a:p>
        </p:txBody>
      </p:sp>
      <p:sp>
        <p:nvSpPr>
          <p:cNvPr id="7" name="TextBox 6"/>
          <p:cNvSpPr txBox="1"/>
          <p:nvPr/>
        </p:nvSpPr>
        <p:spPr>
          <a:xfrm>
            <a:off x="683580" y="2527301"/>
            <a:ext cx="9794847" cy="430887"/>
          </a:xfrm>
          <a:prstGeom prst="rect">
            <a:avLst/>
          </a:prstGeom>
          <a:noFill/>
        </p:spPr>
        <p:txBody>
          <a:bodyPr wrap="square" lIns="0" tIns="0" rIns="0" bIns="0" anchor="t">
            <a:spAutoFit/>
          </a:bodyPr>
          <a:lstStyle/>
          <a:p>
            <a:pPr algn="l"/>
            <a:r>
              <a:rPr sz="1400" dirty="0">
                <a:solidFill>
                  <a:srgbClr val="000000"/>
                </a:solidFill>
                <a:latin typeface="Arial"/>
              </a:rPr>
              <a:t>• These insights emphasize the importance of considering both payment method and passenger count when
analyzing transaction data, as they provide valuable insights into customer behavior and preferences.</a:t>
            </a:r>
          </a:p>
        </p:txBody>
      </p:sp>
      <p:sp>
        <p:nvSpPr>
          <p:cNvPr id="9" name="TextBox 8"/>
          <p:cNvSpPr txBox="1"/>
          <p:nvPr/>
        </p:nvSpPr>
        <p:spPr>
          <a:xfrm>
            <a:off x="177775" y="144102"/>
            <a:ext cx="4572000" cy="164592"/>
          </a:xfrm>
          <a:prstGeom prst="rect">
            <a:avLst/>
          </a:prstGeom>
          <a:noFill/>
        </p:spPr>
        <p:txBody>
          <a:bodyPr wrap="none" lIns="0" tIns="0" rIns="0" bIns="0">
            <a:spAutoFit/>
          </a:bodyPr>
          <a:lstStyle/>
          <a:p>
            <a:pPr algn="l"/>
            <a:r>
              <a:rPr sz="650" b="1" dirty="0">
                <a:solidFill>
                  <a:srgbClr val="787878"/>
                </a:solidFill>
                <a:latin typeface="Arial"/>
              </a:rPr>
              <a:t>MAXIMIZING REVENUE FOR DRIVERS</a:t>
            </a:r>
          </a:p>
        </p:txBody>
      </p:sp>
      <p:sp>
        <p:nvSpPr>
          <p:cNvPr id="10" name="Rectangle 9"/>
          <p:cNvSpPr/>
          <p:nvPr/>
        </p:nvSpPr>
        <p:spPr>
          <a:xfrm>
            <a:off x="109728" y="266417"/>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3" name="TextBox 12"/>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9</a:t>
            </a:r>
          </a:p>
        </p:txBody>
      </p:sp>
      <p:sp>
        <p:nvSpPr>
          <p:cNvPr id="14" name="Rectangle 13"/>
          <p:cNvSpPr/>
          <p:nvPr/>
        </p:nvSpPr>
        <p:spPr>
          <a:xfrm>
            <a:off x="683582" y="3035806"/>
            <a:ext cx="8052046" cy="2213394"/>
          </a:xfrm>
          <a:prstGeom prst="rect">
            <a:avLst/>
          </a:prstGeom>
          <a:solidFill>
            <a:srgbClr val="FAFAFA"/>
          </a:solidFill>
          <a:ln w="1016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i="1">
                <a:solidFill>
                  <a:srgbClr val="A5A5A5"/>
                </a:solidFill>
                <a:latin typeface="Arial"/>
              </a:rPr>
              <a:t>Chart area — add chart later</a:t>
            </a:r>
          </a:p>
        </p:txBody>
      </p:sp>
      <p:pic>
        <p:nvPicPr>
          <p:cNvPr id="16" name="Picture 15">
            <a:extLst>
              <a:ext uri="{FF2B5EF4-FFF2-40B4-BE49-F238E27FC236}">
                <a16:creationId xmlns:a16="http://schemas.microsoft.com/office/drawing/2014/main" id="{2C551558-4342-BB9C-98D4-7B7231483BCD}"/>
              </a:ext>
            </a:extLst>
          </p:cNvPr>
          <p:cNvPicPr>
            <a:picLocks noChangeAspect="1"/>
          </p:cNvPicPr>
          <p:nvPr/>
        </p:nvPicPr>
        <p:blipFill>
          <a:blip r:embed="rId2"/>
          <a:stretch>
            <a:fillRect/>
          </a:stretch>
        </p:blipFill>
        <p:spPr>
          <a:xfrm>
            <a:off x="763923" y="3107182"/>
            <a:ext cx="7971704" cy="20720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159544" y="361234"/>
            <a:ext cx="11785568" cy="1355373"/>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45"/>
          </a:p>
        </p:txBody>
      </p:sp>
      <p:sp>
        <p:nvSpPr>
          <p:cNvPr id="3" name="TextBox 2"/>
          <p:cNvSpPr txBox="1"/>
          <p:nvPr/>
        </p:nvSpPr>
        <p:spPr>
          <a:xfrm>
            <a:off x="159544" y="611249"/>
            <a:ext cx="5453994" cy="716030"/>
          </a:xfrm>
          <a:prstGeom prst="rect">
            <a:avLst/>
          </a:prstGeom>
          <a:noFill/>
        </p:spPr>
        <p:txBody>
          <a:bodyPr wrap="none" lIns="0" tIns="0" rIns="0" bIns="0" anchor="ctr">
            <a:spAutoFit/>
          </a:bodyPr>
          <a:lstStyle/>
          <a:p>
            <a:pPr algn="l"/>
            <a:r>
              <a:rPr sz="4653" b="1" dirty="0">
                <a:solidFill>
                  <a:srgbClr val="000000"/>
                </a:solidFill>
                <a:latin typeface="Arial"/>
              </a:rPr>
              <a:t>Hypothesis Testing</a:t>
            </a:r>
          </a:p>
        </p:txBody>
      </p:sp>
      <p:sp>
        <p:nvSpPr>
          <p:cNvPr id="4" name="Rectangle 3"/>
          <p:cNvSpPr/>
          <p:nvPr/>
        </p:nvSpPr>
        <p:spPr>
          <a:xfrm>
            <a:off x="159544" y="1410512"/>
            <a:ext cx="5328000" cy="15954"/>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45"/>
          </a:p>
        </p:txBody>
      </p:sp>
      <p:sp>
        <p:nvSpPr>
          <p:cNvPr id="5" name="TextBox 4"/>
          <p:cNvSpPr txBox="1"/>
          <p:nvPr/>
        </p:nvSpPr>
        <p:spPr>
          <a:xfrm>
            <a:off x="390366" y="2213557"/>
            <a:ext cx="11301028" cy="596830"/>
          </a:xfrm>
          <a:prstGeom prst="rect">
            <a:avLst/>
          </a:prstGeom>
          <a:noFill/>
        </p:spPr>
        <p:txBody>
          <a:bodyPr wrap="square" lIns="0" tIns="0" rIns="0" bIns="0" anchor="t">
            <a:spAutoFit/>
          </a:bodyPr>
          <a:lstStyle/>
          <a:p>
            <a:pPr algn="l"/>
            <a:r>
              <a:rPr sz="1939" b="1" dirty="0">
                <a:solidFill>
                  <a:srgbClr val="000000"/>
                </a:solidFill>
                <a:latin typeface="Arial"/>
              </a:rPr>
              <a:t>Null hypothesis: </a:t>
            </a:r>
            <a:r>
              <a:rPr sz="1939" dirty="0">
                <a:solidFill>
                  <a:srgbClr val="000000"/>
                </a:solidFill>
                <a:latin typeface="Arial"/>
              </a:rPr>
              <a:t>There is no difference in average fare between customers who use credit cards
and customers who use cash.</a:t>
            </a:r>
          </a:p>
        </p:txBody>
      </p:sp>
      <p:sp>
        <p:nvSpPr>
          <p:cNvPr id="6" name="TextBox 5"/>
          <p:cNvSpPr txBox="1"/>
          <p:nvPr/>
        </p:nvSpPr>
        <p:spPr>
          <a:xfrm>
            <a:off x="390366" y="3259456"/>
            <a:ext cx="11301028" cy="596830"/>
          </a:xfrm>
          <a:prstGeom prst="rect">
            <a:avLst/>
          </a:prstGeom>
          <a:noFill/>
        </p:spPr>
        <p:txBody>
          <a:bodyPr wrap="square" lIns="0" tIns="0" rIns="0" bIns="0" anchor="t">
            <a:spAutoFit/>
          </a:bodyPr>
          <a:lstStyle/>
          <a:p>
            <a:pPr algn="l"/>
            <a:r>
              <a:rPr sz="1939" b="1">
                <a:solidFill>
                  <a:srgbClr val="000000"/>
                </a:solidFill>
                <a:latin typeface="Arial"/>
              </a:rPr>
              <a:t>Alternative hypothesis: </a:t>
            </a:r>
            <a:r>
              <a:rPr sz="1939">
                <a:solidFill>
                  <a:srgbClr val="000000"/>
                </a:solidFill>
                <a:latin typeface="Arial"/>
              </a:rPr>
              <a:t>There is a difference in average fare between customers who use credit
cards and customers who use cash</a:t>
            </a:r>
          </a:p>
        </p:txBody>
      </p:sp>
      <p:sp>
        <p:nvSpPr>
          <p:cNvPr id="7" name="TextBox 6"/>
          <p:cNvSpPr txBox="1"/>
          <p:nvPr/>
        </p:nvSpPr>
        <p:spPr>
          <a:xfrm>
            <a:off x="390366" y="4216352"/>
            <a:ext cx="11301028" cy="596830"/>
          </a:xfrm>
          <a:prstGeom prst="rect">
            <a:avLst/>
          </a:prstGeom>
          <a:noFill/>
        </p:spPr>
        <p:txBody>
          <a:bodyPr wrap="square" lIns="0" tIns="0" rIns="0" bIns="0" anchor="t">
            <a:spAutoFit/>
          </a:bodyPr>
          <a:lstStyle/>
          <a:p>
            <a:pPr algn="l"/>
            <a:r>
              <a:rPr sz="1939" dirty="0">
                <a:solidFill>
                  <a:srgbClr val="000000"/>
                </a:solidFill>
                <a:latin typeface="Arial"/>
              </a:rPr>
              <a:t>With a T-statistic of 165.5 and a P-value of less than 0.05, we reject the null hypothesis, suggesting
that there is indeed a significant difference in average fare between the two payment methods.</a:t>
            </a:r>
          </a:p>
        </p:txBody>
      </p:sp>
      <p:sp>
        <p:nvSpPr>
          <p:cNvPr id="9" name="TextBox 8"/>
          <p:cNvSpPr txBox="1"/>
          <p:nvPr/>
        </p:nvSpPr>
        <p:spPr>
          <a:xfrm>
            <a:off x="159544" y="157536"/>
            <a:ext cx="4572000" cy="164592"/>
          </a:xfrm>
          <a:prstGeom prst="rect">
            <a:avLst/>
          </a:prstGeom>
          <a:noFill/>
        </p:spPr>
        <p:txBody>
          <a:bodyPr wrap="none" lIns="0" tIns="0" rIns="0" bIns="0">
            <a:spAutoFit/>
          </a:bodyPr>
          <a:lstStyle/>
          <a:p>
            <a:pPr algn="l"/>
            <a:r>
              <a:rPr sz="650" b="1" dirty="0">
                <a:solidFill>
                  <a:srgbClr val="787878"/>
                </a:solidFill>
                <a:latin typeface="Arial"/>
              </a:rPr>
              <a:t>MAXIMIZING REVENUE FOR DRIVERS</a:t>
            </a:r>
          </a:p>
        </p:txBody>
      </p:sp>
      <p:sp>
        <p:nvSpPr>
          <p:cNvPr id="10" name="Rectangle 9"/>
          <p:cNvSpPr/>
          <p:nvPr/>
        </p:nvSpPr>
        <p:spPr>
          <a:xfrm>
            <a:off x="109728" y="294415"/>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13" name="TextBox 12"/>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109728" y="109728"/>
            <a:ext cx="11972544" cy="5528882"/>
          </a:xfrm>
          <a:prstGeom prst="rect">
            <a:avLst/>
          </a:prstGeom>
          <a:noFill/>
          <a:ln w="10160">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190099" y="376572"/>
            <a:ext cx="5440592" cy="729559"/>
          </a:xfrm>
          <a:prstGeom prst="rect">
            <a:avLst/>
          </a:prstGeom>
          <a:noFill/>
        </p:spPr>
        <p:txBody>
          <a:bodyPr wrap="none" lIns="0" tIns="0" rIns="0" bIns="0" anchor="ctr">
            <a:spAutoFit/>
          </a:bodyPr>
          <a:lstStyle/>
          <a:p>
            <a:pPr algn="l"/>
            <a:r>
              <a:rPr sz="4741" b="1" dirty="0">
                <a:solidFill>
                  <a:srgbClr val="000000"/>
                </a:solidFill>
                <a:latin typeface="Arial"/>
              </a:rPr>
              <a:t>Recommendations</a:t>
            </a:r>
          </a:p>
        </p:txBody>
      </p:sp>
      <p:sp>
        <p:nvSpPr>
          <p:cNvPr id="3" name="Rectangle 2"/>
          <p:cNvSpPr/>
          <p:nvPr/>
        </p:nvSpPr>
        <p:spPr>
          <a:xfrm>
            <a:off x="194458" y="1044850"/>
            <a:ext cx="4425244" cy="16256"/>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78"/>
          </a:p>
        </p:txBody>
      </p:sp>
      <p:sp>
        <p:nvSpPr>
          <p:cNvPr id="4" name="Oval 3"/>
          <p:cNvSpPr/>
          <p:nvPr/>
        </p:nvSpPr>
        <p:spPr>
          <a:xfrm>
            <a:off x="383928" y="1289954"/>
            <a:ext cx="1174044" cy="1174044"/>
          </a:xfrm>
          <a:prstGeom prst="ellipse">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78"/>
          </a:p>
        </p:txBody>
      </p:sp>
      <p:sp>
        <p:nvSpPr>
          <p:cNvPr id="5" name="Oval 4"/>
          <p:cNvSpPr/>
          <p:nvPr/>
        </p:nvSpPr>
        <p:spPr>
          <a:xfrm>
            <a:off x="365614" y="2646152"/>
            <a:ext cx="1174044" cy="1174044"/>
          </a:xfrm>
          <a:prstGeom prst="ellipse">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78"/>
          </a:p>
        </p:txBody>
      </p:sp>
      <p:sp>
        <p:nvSpPr>
          <p:cNvPr id="6" name="Oval 5"/>
          <p:cNvSpPr/>
          <p:nvPr/>
        </p:nvSpPr>
        <p:spPr>
          <a:xfrm>
            <a:off x="283238" y="3950616"/>
            <a:ext cx="1174044" cy="1174044"/>
          </a:xfrm>
          <a:prstGeom prst="ellipse">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78"/>
          </a:p>
        </p:txBody>
      </p:sp>
      <p:sp>
        <p:nvSpPr>
          <p:cNvPr id="7" name="Oval 6"/>
          <p:cNvSpPr/>
          <p:nvPr/>
        </p:nvSpPr>
        <p:spPr>
          <a:xfrm>
            <a:off x="796480" y="1761492"/>
            <a:ext cx="325120" cy="361244"/>
          </a:xfrm>
          <a:prstGeom prst="ellipse">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78"/>
          </a:p>
        </p:txBody>
      </p:sp>
      <p:sp>
        <p:nvSpPr>
          <p:cNvPr id="8" name="Rectangle 7"/>
          <p:cNvSpPr/>
          <p:nvPr/>
        </p:nvSpPr>
        <p:spPr>
          <a:xfrm>
            <a:off x="837931" y="2071831"/>
            <a:ext cx="180622" cy="7224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78"/>
          </a:p>
        </p:txBody>
      </p:sp>
      <p:cxnSp>
        <p:nvCxnSpPr>
          <p:cNvPr id="9" name="Connector 8"/>
          <p:cNvCxnSpPr/>
          <p:nvPr/>
        </p:nvCxnSpPr>
        <p:spPr>
          <a:xfrm>
            <a:off x="928242" y="1629307"/>
            <a:ext cx="0" cy="90311"/>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3433" y="1719618"/>
            <a:ext cx="72249" cy="72249"/>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090802" y="1719618"/>
            <a:ext cx="72249" cy="72249"/>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66339" y="1927334"/>
            <a:ext cx="90311" cy="36124"/>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099833" y="1927334"/>
            <a:ext cx="90311" cy="36124"/>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Sun 13"/>
          <p:cNvSpPr/>
          <p:nvPr/>
        </p:nvSpPr>
        <p:spPr>
          <a:xfrm>
            <a:off x="574010" y="2926576"/>
            <a:ext cx="704427" cy="650240"/>
          </a:xfrm>
          <a:prstGeom prst="sun">
            <a:avLst/>
          </a:prstGeom>
          <a:noFill/>
          <a:ln w="1778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78"/>
          </a:p>
        </p:txBody>
      </p:sp>
      <p:sp>
        <p:nvSpPr>
          <p:cNvPr id="15" name="TextBox 14"/>
          <p:cNvSpPr txBox="1"/>
          <p:nvPr/>
        </p:nvSpPr>
        <p:spPr>
          <a:xfrm>
            <a:off x="704048" y="3017160"/>
            <a:ext cx="444352" cy="441980"/>
          </a:xfrm>
          <a:prstGeom prst="rect">
            <a:avLst/>
          </a:prstGeom>
          <a:noFill/>
        </p:spPr>
        <p:txBody>
          <a:bodyPr wrap="none" anchor="ctr">
            <a:spAutoFit/>
          </a:bodyPr>
          <a:lstStyle/>
          <a:p>
            <a:pPr algn="ctr"/>
            <a:r>
              <a:rPr sz="2272" b="1">
                <a:latin typeface="Arial"/>
              </a:rPr>
              <a:t>%</a:t>
            </a:r>
          </a:p>
        </p:txBody>
      </p:sp>
      <p:sp>
        <p:nvSpPr>
          <p:cNvPr id="16" name="Pentagon 15"/>
          <p:cNvSpPr/>
          <p:nvPr/>
        </p:nvSpPr>
        <p:spPr>
          <a:xfrm>
            <a:off x="655597" y="4257061"/>
            <a:ext cx="505742" cy="632178"/>
          </a:xfrm>
          <a:prstGeom prst="homePlate">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78"/>
          </a:p>
        </p:txBody>
      </p:sp>
      <p:sp>
        <p:nvSpPr>
          <p:cNvPr id="17" name="TextBox 16"/>
          <p:cNvSpPr txBox="1"/>
          <p:nvPr/>
        </p:nvSpPr>
        <p:spPr>
          <a:xfrm>
            <a:off x="711940" y="4337212"/>
            <a:ext cx="393056" cy="426720"/>
          </a:xfrm>
          <a:prstGeom prst="rect">
            <a:avLst/>
          </a:prstGeom>
          <a:noFill/>
        </p:spPr>
        <p:txBody>
          <a:bodyPr wrap="none" anchor="ctr">
            <a:spAutoFit/>
          </a:bodyPr>
          <a:lstStyle/>
          <a:p>
            <a:pPr algn="ctr"/>
            <a:r>
              <a:rPr sz="2173" b="1" dirty="0">
                <a:latin typeface="Arial"/>
              </a:rPr>
              <a:t>✓</a:t>
            </a:r>
          </a:p>
        </p:txBody>
      </p:sp>
      <p:sp>
        <p:nvSpPr>
          <p:cNvPr id="18" name="TextBox 17"/>
          <p:cNvSpPr txBox="1"/>
          <p:nvPr/>
        </p:nvSpPr>
        <p:spPr>
          <a:xfrm>
            <a:off x="1785277" y="1531716"/>
            <a:ext cx="10069689" cy="577722"/>
          </a:xfrm>
          <a:prstGeom prst="rect">
            <a:avLst/>
          </a:prstGeom>
          <a:noFill/>
        </p:spPr>
        <p:txBody>
          <a:bodyPr wrap="square" lIns="0" tIns="0" rIns="0" bIns="0" anchor="ctr">
            <a:spAutoFit/>
          </a:bodyPr>
          <a:lstStyle/>
          <a:p>
            <a:pPr algn="l"/>
            <a:r>
              <a:rPr sz="1877" dirty="0">
                <a:solidFill>
                  <a:srgbClr val="000000"/>
                </a:solidFill>
                <a:latin typeface="Arial"/>
              </a:rPr>
              <a:t>Encourage customers to pay with credit cards to capitalize on the potential for
generating more revenue for taxi cab drivers.</a:t>
            </a:r>
          </a:p>
        </p:txBody>
      </p:sp>
      <p:sp>
        <p:nvSpPr>
          <p:cNvPr id="19" name="TextBox 18"/>
          <p:cNvSpPr txBox="1"/>
          <p:nvPr/>
        </p:nvSpPr>
        <p:spPr>
          <a:xfrm>
            <a:off x="1795544" y="2843080"/>
            <a:ext cx="10069689" cy="577722"/>
          </a:xfrm>
          <a:prstGeom prst="rect">
            <a:avLst/>
          </a:prstGeom>
          <a:noFill/>
        </p:spPr>
        <p:txBody>
          <a:bodyPr wrap="square" lIns="0" tIns="0" rIns="0" bIns="0" anchor="ctr">
            <a:spAutoFit/>
          </a:bodyPr>
          <a:lstStyle/>
          <a:p>
            <a:pPr algn="l"/>
            <a:r>
              <a:rPr sz="1877" dirty="0">
                <a:solidFill>
                  <a:srgbClr val="000000"/>
                </a:solidFill>
                <a:latin typeface="Arial"/>
              </a:rPr>
              <a:t>Implement strategies such as offering incentives or discounts for credit card
transactions to incentivize customers to choose this payment method.</a:t>
            </a:r>
          </a:p>
        </p:txBody>
      </p:sp>
      <p:sp>
        <p:nvSpPr>
          <p:cNvPr id="20" name="TextBox 19"/>
          <p:cNvSpPr txBox="1"/>
          <p:nvPr/>
        </p:nvSpPr>
        <p:spPr>
          <a:xfrm>
            <a:off x="1814834" y="4189735"/>
            <a:ext cx="10069689" cy="577722"/>
          </a:xfrm>
          <a:prstGeom prst="rect">
            <a:avLst/>
          </a:prstGeom>
          <a:noFill/>
        </p:spPr>
        <p:txBody>
          <a:bodyPr wrap="square" lIns="0" tIns="0" rIns="0" bIns="0" anchor="ctr">
            <a:spAutoFit/>
          </a:bodyPr>
          <a:lstStyle/>
          <a:p>
            <a:pPr algn="l"/>
            <a:r>
              <a:rPr sz="1877" dirty="0">
                <a:solidFill>
                  <a:srgbClr val="000000"/>
                </a:solidFill>
                <a:latin typeface="Arial"/>
              </a:rPr>
              <a:t>Provide seamless and secure credit card payment options to enhance customer
convenience and encourage adoption of this preferred payment method.</a:t>
            </a:r>
          </a:p>
        </p:txBody>
      </p:sp>
      <p:sp>
        <p:nvSpPr>
          <p:cNvPr id="22" name="TextBox 21"/>
          <p:cNvSpPr txBox="1"/>
          <p:nvPr/>
        </p:nvSpPr>
        <p:spPr>
          <a:xfrm>
            <a:off x="182645" y="173919"/>
            <a:ext cx="4572000" cy="164592"/>
          </a:xfrm>
          <a:prstGeom prst="rect">
            <a:avLst/>
          </a:prstGeom>
          <a:noFill/>
        </p:spPr>
        <p:txBody>
          <a:bodyPr wrap="none" lIns="0" tIns="0" rIns="0" bIns="0">
            <a:spAutoFit/>
          </a:bodyPr>
          <a:lstStyle/>
          <a:p>
            <a:pPr algn="l"/>
            <a:r>
              <a:rPr sz="650" b="1">
                <a:solidFill>
                  <a:srgbClr val="787878"/>
                </a:solidFill>
                <a:latin typeface="Arial"/>
              </a:rPr>
              <a:t>MAXIMIZING REVENUE FOR DRIVERS</a:t>
            </a:r>
          </a:p>
        </p:txBody>
      </p:sp>
      <p:sp>
        <p:nvSpPr>
          <p:cNvPr id="23" name="Rectangle 22"/>
          <p:cNvSpPr/>
          <p:nvPr/>
        </p:nvSpPr>
        <p:spPr>
          <a:xfrm>
            <a:off x="93355" y="330199"/>
            <a:ext cx="11916000"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5492306"/>
            <a:ext cx="11789664" cy="7315"/>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19456" y="5524310"/>
            <a:ext cx="4114800" cy="146304"/>
          </a:xfrm>
          <a:prstGeom prst="rect">
            <a:avLst/>
          </a:prstGeom>
          <a:noFill/>
        </p:spPr>
        <p:txBody>
          <a:bodyPr wrap="none" lIns="0" tIns="0" rIns="0" bIns="0">
            <a:spAutoFit/>
          </a:bodyPr>
          <a:lstStyle/>
          <a:p>
            <a:r>
              <a:rPr sz="650">
                <a:solidFill>
                  <a:srgbClr val="787878"/>
                </a:solidFill>
                <a:latin typeface="Arial"/>
              </a:rPr>
              <a:t>Through Payment Type</a:t>
            </a:r>
          </a:p>
        </p:txBody>
      </p:sp>
      <p:sp>
        <p:nvSpPr>
          <p:cNvPr id="26" name="TextBox 25"/>
          <p:cNvSpPr txBox="1"/>
          <p:nvPr/>
        </p:nvSpPr>
        <p:spPr>
          <a:xfrm>
            <a:off x="11597640" y="5515166"/>
            <a:ext cx="347472" cy="164592"/>
          </a:xfrm>
          <a:prstGeom prst="rect">
            <a:avLst/>
          </a:prstGeom>
          <a:noFill/>
        </p:spPr>
        <p:txBody>
          <a:bodyPr wrap="none" lIns="0" tIns="0" rIns="0" bIns="0">
            <a:spAutoFit/>
          </a:bodyPr>
          <a:lstStyle/>
          <a:p>
            <a:pPr algn="r"/>
            <a:r>
              <a:rPr sz="700" b="1">
                <a:solidFill>
                  <a:srgbClr val="787878"/>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 y="109728"/>
            <a:ext cx="11969496" cy="5532120"/>
          </a:xfrm>
          <a:prstGeom prst="rect">
            <a:avLst/>
          </a:prstGeom>
          <a:noFill/>
          <a:ln w="9525">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5448" y="155448"/>
            <a:ext cx="4572000" cy="164592"/>
          </a:xfrm>
          <a:prstGeom prst="rect">
            <a:avLst/>
          </a:prstGeom>
          <a:noFill/>
        </p:spPr>
        <p:txBody>
          <a:bodyPr wrap="none">
            <a:spAutoFit/>
          </a:bodyPr>
          <a:lstStyle/>
          <a:p>
            <a:pPr algn="l">
              <a:defRPr sz="650" b="1">
                <a:solidFill>
                  <a:srgbClr val="787878"/>
                </a:solidFill>
                <a:latin typeface="Arial"/>
              </a:defRPr>
            </a:pPr>
            <a:r>
              <a:t>MAXIMIZING REVENUE FOR DRIVERS</a:t>
            </a:r>
          </a:p>
        </p:txBody>
      </p:sp>
      <p:sp>
        <p:nvSpPr>
          <p:cNvPr id="4" name="Rectangle 3"/>
          <p:cNvSpPr/>
          <p:nvPr/>
        </p:nvSpPr>
        <p:spPr>
          <a:xfrm>
            <a:off x="91440" y="329184"/>
            <a:ext cx="11914632" cy="9144"/>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139696"/>
            <a:ext cx="11247120" cy="777240"/>
          </a:xfrm>
          <a:prstGeom prst="rect">
            <a:avLst/>
          </a:prstGeom>
          <a:noFill/>
        </p:spPr>
        <p:txBody>
          <a:bodyPr wrap="none" anchor="ctr">
            <a:spAutoFit/>
          </a:bodyPr>
          <a:lstStyle/>
          <a:p>
            <a:pPr algn="ctr">
              <a:defRPr sz="5400" b="1">
                <a:solidFill>
                  <a:srgbClr val="000000"/>
                </a:solidFill>
                <a:latin typeface="Arial"/>
              </a:defRPr>
            </a:pPr>
            <a:r>
              <a:t>Thank You</a:t>
            </a:r>
          </a:p>
        </p:txBody>
      </p:sp>
      <p:sp>
        <p:nvSpPr>
          <p:cNvPr id="6" name="Rectangle 5"/>
          <p:cNvSpPr/>
          <p:nvPr/>
        </p:nvSpPr>
        <p:spPr>
          <a:xfrm>
            <a:off x="4438476" y="2984895"/>
            <a:ext cx="3420000" cy="18288"/>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0" y="3182112"/>
            <a:ext cx="6702552" cy="411480"/>
          </a:xfrm>
          <a:prstGeom prst="rect">
            <a:avLst/>
          </a:prstGeom>
          <a:noFill/>
        </p:spPr>
        <p:txBody>
          <a:bodyPr wrap="none">
            <a:spAutoFit/>
          </a:bodyPr>
          <a:lstStyle/>
          <a:p>
            <a:pPr algn="ctr">
              <a:defRPr sz="1300" b="0">
                <a:solidFill>
                  <a:srgbClr val="787878"/>
                </a:solidFill>
                <a:latin typeface="Arial"/>
              </a:defRPr>
            </a:pPr>
            <a:r>
              <a:t>MAXIMIZING REVENUE FOR DRIVERS</a:t>
            </a:r>
          </a:p>
        </p:txBody>
      </p:sp>
      <p:sp>
        <p:nvSpPr>
          <p:cNvPr id="8" name="Rectangle 7"/>
          <p:cNvSpPr/>
          <p:nvPr/>
        </p:nvSpPr>
        <p:spPr>
          <a:xfrm>
            <a:off x="201168" y="5495544"/>
            <a:ext cx="11786616" cy="9144"/>
          </a:xfrm>
          <a:prstGeom prst="rect">
            <a:avLst/>
          </a:prstGeom>
          <a:solidFill>
            <a:srgbClr val="CD6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9456" y="5522976"/>
            <a:ext cx="4114800" cy="146304"/>
          </a:xfrm>
          <a:prstGeom prst="rect">
            <a:avLst/>
          </a:prstGeom>
          <a:noFill/>
        </p:spPr>
        <p:txBody>
          <a:bodyPr wrap="none">
            <a:spAutoFit/>
          </a:bodyPr>
          <a:lstStyle/>
          <a:p>
            <a:pPr>
              <a:defRPr sz="650">
                <a:solidFill>
                  <a:srgbClr val="787878"/>
                </a:solidFill>
                <a:latin typeface="Arial"/>
              </a:defRPr>
            </a:pPr>
            <a:r>
              <a:t>Through Payment Type</a:t>
            </a:r>
          </a:p>
        </p:txBody>
      </p:sp>
      <p:sp>
        <p:nvSpPr>
          <p:cNvPr id="10" name="TextBox 9"/>
          <p:cNvSpPr txBox="1"/>
          <p:nvPr/>
        </p:nvSpPr>
        <p:spPr>
          <a:xfrm>
            <a:off x="11594592" y="5513832"/>
            <a:ext cx="347472" cy="164592"/>
          </a:xfrm>
          <a:prstGeom prst="rect">
            <a:avLst/>
          </a:prstGeom>
          <a:noFill/>
        </p:spPr>
        <p:txBody>
          <a:bodyPr wrap="none">
            <a:spAutoFit/>
          </a:bodyPr>
          <a:lstStyle/>
          <a:p>
            <a:pPr algn="r">
              <a:defRPr sz="700" b="1">
                <a:solidFill>
                  <a:srgbClr val="787878"/>
                </a:solidFill>
                <a:latin typeface="Arial"/>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812</Words>
  <Application>Microsoft Office PowerPoint</Application>
  <PresentationFormat>Custom</PresentationFormat>
  <Paragraphs>120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Maximizing Revenue for Drivers — Fully Editable Presentation</dc:title>
  <dc:subject>Editable slide deck rebuilt from supplied editable presentation with fixed safe margins, outline, header/footer, and blank visual/chart areas.</dc:subject>
  <dc:creator>Kartik Bhaskar</dc:creator>
  <cp:keywords/>
  <dc:description>Text and shapes remain editable; visual/chart regions are intentionally blank for later insertion.</dc:description>
  <cp:lastModifiedBy>atbajov</cp:lastModifiedBy>
  <cp:revision>7</cp:revision>
  <dcterms:created xsi:type="dcterms:W3CDTF">2013-01-27T09:14:16Z</dcterms:created>
  <dcterms:modified xsi:type="dcterms:W3CDTF">2026-09-23T19:00:32Z</dcterms:modified>
  <cp:category/>
</cp:coreProperties>
</file>